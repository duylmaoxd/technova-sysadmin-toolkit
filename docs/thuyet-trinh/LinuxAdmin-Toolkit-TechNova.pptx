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e5486f45-c153-c157-61b4-27fc96a3035d}">
          <p14:sldIdLst>
            <p14:sldId id="256"/>
            <p14:sldId id="257"/>
            <p14:sldId id="258"/>
          </p14:sldIdLst>
        </p14:section>
        <p14:section name="Giải pháp" id="{52113d1e-b079-d010-7502-662978ff7627}">
          <p14:sldIdLst>
            <p14:sldId id="259"/>
            <p14:sldId id="260"/>
            <p14:sldId id="261"/>
          </p14:sldIdLst>
        </p14:section>
        <p14:section name="5 chức năng" id="{fe451abe-5a6d-ca93-a1cc-2bae47ba2c50}">
          <p14:sldIdLst>
            <p14:sldId id="262"/>
            <p14:sldId id="263"/>
            <p14:sldId id="264"/>
            <p14:sldId id="265"/>
            <p14:sldId id="266"/>
            <p14:sldId id="267"/>
          </p14:sldIdLst>
        </p14:section>
        <p14:section name="Kết quả" id="{80cf5b92-918c-afcd-7593-be4a9f8e54bb}">
          <p14:sldIdLst>
            <p14:sldId id="268"/>
            <p14:sldId id="269"/>
            <p14:sldId id="270"/>
          </p14:sldIdLst>
        </p14:section>
        <p14:section name="Kết thúc" id="{fb61d27b-2dd4-b676-5556-191b4160d2dc}">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4324F"/>
                </a:solidFill>
                <a:latin typeface="+mj-lt"/>
              </a:defRPr>
            </a:pPr>
            <a:r>
              <a:rPr sz="1500" b="0" i="0" u="none" strike="noStrike">
                <a:solidFill>
                  <a:srgbClr val="14324F"/>
                </a:solidFill>
                <a:latin typeface="+mj-lt"/>
              </a:rPr>
              <a:t>Số test theo nhóm (tất cả PASS)</a:t>
            </a:r>
          </a:p>
        </c:rich>
      </c:tx>
      <c:layout/>
      <c:overlay val="0"/>
    </c:title>
    <c:autoTitleDeleted val="0"/>
    <c:plotArea>
      <c:layout/>
      <c:barChart>
        <c:barDir val="bar"/>
        <c:grouping val="clustered"/>
        <c:varyColors val="0"/>
        <c:ser>
          <c:idx val="0"/>
          <c:order val="0"/>
          <c:tx>
            <c:strRef>
              <c:f>Sheet1!$B$1</c:f>
              <c:strCache>
                <c:ptCount val="1"/>
                <c:pt idx="0">
                  <c:v>Số test PASS</c:v>
                </c:pt>
              </c:strCache>
            </c:strRef>
          </c:tx>
          <c:spPr>
            <a:solidFill>
              <a:srgbClr val="0F7C80"/>
            </a:solidFill>
            <a:effectLst/>
          </c:spPr>
          <c:invertIfNegative val="0"/>
          <c:dLbls>
            <c:numFmt formatCode="#,##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cat>
            <c:multiLvlStrRef>
              <c:f>Sheet1!$A$2:$A$9</c:f>
              <c:multiLvlStrCache>
                <c:ptCount val="8"/>
                <c:lvl>
                  <c:pt idx="0">
                    <c:v>Nền tảng</c:v>
                  </c:pt>
                  <c:pt idx="1">
                    <c:v>users</c:v>
                  </c:pt>
                  <c:pt idx="2">
                    <c:v>monitor</c:v>
                  </c:pt>
                  <c:pt idx="3">
                    <c:v>alert</c:v>
                  </c:pt>
                  <c:pt idx="4">
                    <c:v>backup</c:v>
                  </c:pt>
                  <c:pt idx="5">
                    <c:v>scheduler</c:v>
                  </c:pt>
                  <c:pt idx="6">
                    <c:v>Nghỉ việc</c:v>
                  </c:pt>
                  <c:pt idx="7">
                    <c:v>Dọn dẹp</c:v>
                  </c:pt>
                </c:lvl>
              </c:multiLvlStrCache>
            </c:multiLvlStrRef>
          </c:cat>
          <c:val>
            <c:numRef>
              <c:f>Sheet1!$B$2:$B$9</c:f>
              <c:numCache>
                <c:formatCode>General</c:formatCode>
                <c:ptCount val="8"/>
                <c:pt idx="0">
                  <c:v>5</c:v>
                </c:pt>
                <c:pt idx="1">
                  <c:v>18</c:v>
                </c:pt>
                <c:pt idx="2">
                  <c:v>6</c:v>
                </c:pt>
                <c:pt idx="3">
                  <c:v>7</c:v>
                </c:pt>
                <c:pt idx="4">
                  <c:v>6</c:v>
                </c:pt>
                <c:pt idx="5">
                  <c:v>7</c:v>
                </c:pt>
                <c:pt idx="6">
                  <c:v>4</c:v>
                </c:pt>
                <c:pt idx="7">
                  <c:v>2</c:v>
                </c:pt>
              </c:numCache>
            </c:numRef>
          </c:val>
        </c:ser>
        <c:dLbls>
          <c:numFmt formatCode="#,##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4A5868"/>
                </a:solidFill>
                <a:latin typeface="+mn-lt"/>
              </a:defRPr>
            </a:pPr>
            <a:endParaRPr lang="en-US"/>
          </a:p>
        </c:txPr>
        <c:crossAx val="2094734552"/>
        <c:crosses val="autoZero"/>
        <c:auto val="1"/>
        <c:lblAlgn val="ctr"/>
        <c:noMultiLvlLbl val="1"/>
      </c:catAx>
      <c:valAx>
        <c:axId val="2094734552"/>
        <c:scaling>
          <c:orientation val="minMax"/>
          <c:max val="20"/>
        </c:scaling>
        <c:delete val="0"/>
        <c:axPos val="b"/>
        <c:majorGridlines>
          <c:spPr>
            <a:ln w="6350" cap="flat">
              <a:solidFill>
                <a:srgbClr val="E3E8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86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cô và các bạn. Nhóm em trình bày đồ án LinuxAdmin Toolkit — bộ công cụ quản trị máy chủ viết hoàn toàn bằng Bash, đặt trong bối cảnh một doanh nghiệp giả định là TechNova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TechNova có một máy chủ Ubuntu tập trung tên technova-core-srv. Ba phòng ban cùng SSH vào làm việc. Anh Hưng là Tech Lead làm việc từ xa, chỉ có terminal qua SSH. Đó là ràng buộc quan trọng: giải pháp phải chạy tốt trong terminal và tự động hoá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nhu cầu này lấy từ đề bài: cấp quyền và quản lý nhân viên, giám sát ai đang làm gì, nhận cảnh báo tức thời ngày đêm, và tự động hoá bảo dưỡng, sao lưu. Làm tay thì mỗi việc là hàng chục lệnh rời rạc.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Toolkit gom bốn nỗi lo thành năm chức năng: users, monitor, alert, backup, scheduler. Tất cả gọi qua một lệnh duy nhất là sysadmin. Khoảng 3850 dòng Bash với 60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thiết kế quan trọng: TUI và CLI dùng chung một dispatcher. Khi chọn trên menu, toolkit gọi lại chính nó bằng lệnh CLI và hiện lệnh đó ra. Mỗi module khai báo action một lần qua register_action, help và menu được sinh tự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giao diện TUI khi anh Hưng SSH vào máy chủ. Mọi thao tác thay đổi hệ thống đều hỏi chạy thật hay chạy thử. Ai quen gõ lệnh thì dùng CLI, chuyển qua lại bằng một phím.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Chức năng users. users create tạo nhân viên từ file CSV. setup-dirs tạo thư mục theo phòng ban với SGID và sticky bit. Ảnh là kết quả tự thử quyền: người phòng dev ghi được vào dev nhưng không vào được data. Khi nghỉ việc, offboard làm liền năm bước.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Chức năng monitor trả lời câu hỏi ai đang làm gì. Trong ảnh, Data Analyst cuonglv chạy train_model.py chiếm 99% CPU. monitor usage và hogs phát hiện ngay, anh Hưng có thể renice hoặc 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 check chạy mỗi năm phút từ cron. Nó không chỉ đo CPU RAM mà còn phát hiện process ngốn tài nguyên kèm tên nhân viên, dịch vụ chết và dấu hiệu dò mật khẩu SSH. Có cooldown để không spam lúc nửa đêm.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Sao lưu chạy lúc 2 giờ sáng. Có khoá chống chạy trùng, checksum SHA-256, xoay vòng giữ 7 bản và tùy chọn đẩy ra máy khác. Kiểm thử đã khôi phục đúng nội dung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scheduler install ghi một khối lịch riêng vào crontab, cài lại hay gỡ không ảnh hưởng job khác. Lệnh explain giải thích biểu thức cron bằng tiếng Việt, rất tiện khi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mặt đề tài Bash scripting, đây là các kỹ thuật chính: chế độ nghiêm ngặt với trap, mảng kết hợp làm registry, hàm run hỗ trợ dry-run, awk để tổng hợp dữ liệu, flock và runuser.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viết script kiểm thử tự động 55 bước, mô phỏng trọn một ngày làm việc: nhân viên mới, process treo, cảnh báo, sao lưu, tự động hoá, nghỉ việc và dọn dẹp. Mỗi bước kiểm chứng bằng điều kiện thật trên hệ thống. Kết quả 55 trên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Lợi ích lớn nhất của tự động hoá: nhanh hơn, không sót bước, và phản ứng sự cố trong vòng năm phút thay vì chờ nhân viên phản ánh. Số liệu thời gian là ước tính của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Toolkit đóng gói ba cách: Docker dựng sẵn máy chủ giả lập để demo, cài thẳng lên Ubuntu bằng install.sh, hoặc tải gói tar.gz.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luận: Bash đủ mạnh để tự động hoá toàn bộ công việc quản trị máy chủ. Hướng phát triển là quản lý nhiều máy, dashboard web, giám sát lệnh sudo và mã hoá bản sao lưu. Cảm ơn thầy cô đã lắng nghe, sau đây nhóm em xin demo trực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429000"/>
            <a:ext cx="1069848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7A8FA6"/>
                </a:solidFill>
              </a:rPr>
              <a:t>TechNova Solutions · LinuxAdmin Toolkit · OSG203</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FA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FA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463040"/>
          </a:xfrm>
          <a:prstGeom prst="rect">
            <a:avLst/>
          </a:prstGeom>
          <a:noFill/>
          <a:ln/>
        </p:spPr>
        <p:txBody>
          <a:bodyPr wrap="square" rtlCol="0" anchor="b"/>
          <a:lstStyle/>
          <a:p>
            <a:pPr algn="l" indent="0" marL="0">
              <a:buNone/>
            </a:pPr>
            <a:r>
              <a:rPr lang="en-US" sz="4400" b="1" dirty="0">
                <a:solidFill>
                  <a:schemeClr val="bg1"/>
                </a:solidFill>
              </a:rPr>
              <a:t>LinuxAdmin Toolkit</a:t>
            </a:r>
            <a:endParaRPr lang="en-US" sz="4400" dirty="0"/>
          </a:p>
        </p:txBody>
      </p:sp>
      <p:sp>
        <p:nvSpPr>
          <p:cNvPr id="3" name="Text 0"/>
          <p:cNvSpPr/>
          <p:nvPr>
            <p:ph idx="101" type="body" hasCustomPrompt="1"/>
          </p:nvPr>
        </p:nvSpPr>
        <p:spPr>
          <a:xfrm>
            <a:off x="731520" y="3429000"/>
            <a:ext cx="10698480" cy="1280160"/>
          </a:xfrm>
          <a:prstGeom prst="rect">
            <a:avLst/>
          </a:prstGeom>
          <a:noFill/>
          <a:ln/>
        </p:spPr>
        <p:txBody>
          <a:bodyPr wrap="square" rtlCol="0" anchor="t"/>
          <a:lstStyle/>
          <a:p>
            <a:pPr algn="l" indent="0" marL="0">
              <a:buNone/>
            </a:pPr>
            <a:r>
              <a:rPr lang="en-US" sz="2000" dirty="0">
                <a:solidFill>
                  <a:schemeClr val="bg2"/>
                </a:solidFill>
              </a:rPr>
              <a:t>Quản trị máy chủ TechNova bằng Bash — 5 chức năng, 2 chế độ, chạy qua SSH</a:t>
            </a:r>
            <a:endParaRPr lang="en-US" sz="2000" dirty="0"/>
          </a:p>
          <a:p>
            <a:pPr algn="l" indent="0" marL="0">
              <a:buNone/>
            </a:pPr>
            <a:r>
              <a:rPr lang="en-US" sz="1600" dirty="0">
                <a:solidFill>
                  <a:schemeClr val="accent4"/>
                </a:solidFill>
              </a:rPr>
              <a:t>OSG203 · Đề tài 3: Bash Scripting cho System Administration · Nhóm: ........</a:t>
            </a:r>
            <a:endParaRPr lang="en-US" sz="2000" dirty="0"/>
          </a:p>
        </p:txBody>
      </p:sp>
      <p:sp>
        <p:nvSpPr>
          <p:cNvPr id="4" name="terminal-icon-circle"/>
          <p:cNvSpPr/>
          <p:nvPr/>
        </p:nvSpPr>
        <p:spPr>
          <a:xfrm>
            <a:off x="731520" y="822960"/>
            <a:ext cx="868680" cy="868680"/>
          </a:xfrm>
          <a:prstGeom prst="ellipse">
            <a:avLst/>
          </a:prstGeom>
          <a:solidFill>
            <a:schemeClr val="accent1"/>
          </a:solidFill>
          <a:ln w="12700">
            <a:solidFill>
              <a:schemeClr val="accent1"/>
            </a:solidFill>
            <a:prstDash val="solid"/>
          </a:ln>
        </p:spPr>
      </p:sp>
      <p:pic>
        <p:nvPicPr>
          <p:cNvPr id="5" name="terminal-icon" descr="terminal-icon">    </p:cNvPr>
          <p:cNvPicPr>
            <a:picLocks noChangeAspect="1"/>
          </p:cNvPicPr>
          <p:nvPr/>
        </p:nvPicPr>
        <p:blipFill>
          <a:blip r:embed="rId1"/>
          <a:stretch>
            <a:fillRect/>
          </a:stretch>
        </p:blipFill>
        <p:spPr>
          <a:xfrm>
            <a:off x="940003" y="1031443"/>
            <a:ext cx="451714" cy="4517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TechNova: một máy chủ cho cả công ty</a:t>
            </a:r>
            <a:endParaRPr lang="en-US" sz="3200" dirty="0"/>
          </a:p>
        </p:txBody>
      </p:sp>
      <p:sp>
        <p:nvSpPr>
          <p:cNvPr id="3" name="ctx-card-0"/>
          <p:cNvSpPr/>
          <p:nvPr/>
        </p:nvSpPr>
        <p:spPr>
          <a:xfrm>
            <a:off x="548640" y="1463040"/>
            <a:ext cx="3520440" cy="3566160"/>
          </a:xfrm>
          <a:prstGeom prst="roundRect">
            <a:avLst>
              <a:gd name="adj" fmla="val 3117"/>
            </a:avLst>
          </a:prstGeom>
          <a:solidFill>
            <a:schemeClr val="bg2"/>
          </a:solidFill>
          <a:ln w="12700">
            <a:solidFill>
              <a:schemeClr val="bg2"/>
            </a:solidFill>
            <a:prstDash val="solid"/>
          </a:ln>
        </p:spPr>
      </p:sp>
      <p:sp>
        <p:nvSpPr>
          <p:cNvPr id="4" name="ctx-icon-0-circle"/>
          <p:cNvSpPr/>
          <p:nvPr/>
        </p:nvSpPr>
        <p:spPr>
          <a:xfrm>
            <a:off x="868680" y="1783080"/>
            <a:ext cx="822960" cy="822960"/>
          </a:xfrm>
          <a:prstGeom prst="ellipse">
            <a:avLst/>
          </a:prstGeom>
          <a:solidFill>
            <a:schemeClr val="accent1"/>
          </a:solidFill>
          <a:ln w="12700">
            <a:solidFill>
              <a:schemeClr val="accent1"/>
            </a:solidFill>
            <a:prstDash val="solid"/>
          </a:ln>
        </p:spPr>
      </p:sp>
      <p:pic>
        <p:nvPicPr>
          <p:cNvPr id="5" name="ctx-icon-0" descr="ctx-icon-0">    </p:cNvPr>
          <p:cNvPicPr>
            <a:picLocks noChangeAspect="1"/>
          </p:cNvPicPr>
          <p:nvPr/>
        </p:nvPicPr>
        <p:blipFill>
          <a:blip r:embed="rId1"/>
          <a:stretch>
            <a:fillRect/>
          </a:stretch>
        </p:blipFill>
        <p:spPr>
          <a:xfrm>
            <a:off x="1066190" y="1980590"/>
            <a:ext cx="427939" cy="427939"/>
          </a:xfrm>
          <a:prstGeom prst="rect">
            <a:avLst/>
          </a:prstGeom>
        </p:spPr>
      </p:pic>
      <p:sp>
        <p:nvSpPr>
          <p:cNvPr id="6" name="ctx-h-0"/>
          <p:cNvSpPr txBox="1"/>
          <p:nvPr/>
        </p:nvSpPr>
        <p:spPr>
          <a:xfrm>
            <a:off x="868680" y="2788920"/>
            <a:ext cx="2926080" cy="457200"/>
          </a:xfrm>
          <a:prstGeom prst="rect">
            <a:avLst/>
          </a:prstGeom>
          <a:noFill/>
          <a:ln/>
        </p:spPr>
        <p:txBody>
          <a:bodyPr wrap="square" lIns="0" tIns="0" rIns="0" bIns="0" rtlCol="0" anchor="t"/>
          <a:lstStyle/>
          <a:p>
            <a:pPr indent="0" marL="0">
              <a:buNone/>
            </a:pPr>
            <a:r>
              <a:rPr lang="en-US" sz="2000" b="1" dirty="0">
                <a:solidFill>
                  <a:schemeClr val="tx2"/>
                </a:solidFill>
              </a:rPr>
              <a:t>technova-core-srv</a:t>
            </a:r>
            <a:endParaRPr lang="en-US" sz="2000" dirty="0"/>
          </a:p>
        </p:txBody>
      </p:sp>
      <p:sp>
        <p:nvSpPr>
          <p:cNvPr id="7" name="ctx-b-0"/>
          <p:cNvSpPr txBox="1"/>
          <p:nvPr/>
        </p:nvSpPr>
        <p:spPr>
          <a:xfrm>
            <a:off x="868680" y="3337560"/>
            <a:ext cx="2926080" cy="1554480"/>
          </a:xfrm>
          <a:prstGeom prst="rect">
            <a:avLst/>
          </a:prstGeom>
          <a:noFill/>
          <a:ln/>
        </p:spPr>
        <p:txBody>
          <a:bodyPr wrap="square" lIns="0" tIns="0" rIns="0" bIns="0" rtlCol="0" anchor="t"/>
          <a:lstStyle/>
          <a:p>
            <a:pPr indent="0" marL="0">
              <a:buNone/>
            </a:pPr>
            <a:r>
              <a:rPr lang="en-US" sz="1700" dirty="0">
                <a:solidFill>
                  <a:schemeClr val="tx1"/>
                </a:solidFill>
              </a:rPr>
              <a:t>Ubuntu Server tập trung tại trụ sở chính — nơi chạy toàn bộ công việc</a:t>
            </a:r>
            <a:endParaRPr lang="en-US" sz="1700" dirty="0"/>
          </a:p>
        </p:txBody>
      </p:sp>
      <p:sp>
        <p:nvSpPr>
          <p:cNvPr id="8" name="ctx-card-1"/>
          <p:cNvSpPr/>
          <p:nvPr/>
        </p:nvSpPr>
        <p:spPr>
          <a:xfrm>
            <a:off x="4297680" y="1463040"/>
            <a:ext cx="3520440" cy="3566160"/>
          </a:xfrm>
          <a:prstGeom prst="roundRect">
            <a:avLst>
              <a:gd name="adj" fmla="val 3117"/>
            </a:avLst>
          </a:prstGeom>
          <a:solidFill>
            <a:schemeClr val="bg2"/>
          </a:solidFill>
          <a:ln w="12700">
            <a:solidFill>
              <a:schemeClr val="bg2"/>
            </a:solidFill>
            <a:prstDash val="solid"/>
          </a:ln>
        </p:spPr>
      </p:sp>
      <p:sp>
        <p:nvSpPr>
          <p:cNvPr id="9" name="ctx-icon-1-circle"/>
          <p:cNvSpPr/>
          <p:nvPr/>
        </p:nvSpPr>
        <p:spPr>
          <a:xfrm>
            <a:off x="4617720" y="1783080"/>
            <a:ext cx="822960" cy="822960"/>
          </a:xfrm>
          <a:prstGeom prst="ellipse">
            <a:avLst/>
          </a:prstGeom>
          <a:solidFill>
            <a:schemeClr val="accent1"/>
          </a:solidFill>
          <a:ln w="12700">
            <a:solidFill>
              <a:schemeClr val="accent1"/>
            </a:solidFill>
            <a:prstDash val="solid"/>
          </a:ln>
        </p:spPr>
      </p:sp>
      <p:pic>
        <p:nvPicPr>
          <p:cNvPr id="10" name="ctx-icon-1" descr="ctx-icon-1">    </p:cNvPr>
          <p:cNvPicPr>
            <a:picLocks noChangeAspect="1"/>
          </p:cNvPicPr>
          <p:nvPr/>
        </p:nvPicPr>
        <p:blipFill>
          <a:blip r:embed="rId2"/>
          <a:stretch>
            <a:fillRect/>
          </a:stretch>
        </p:blipFill>
        <p:spPr>
          <a:xfrm>
            <a:off x="4815230" y="1980590"/>
            <a:ext cx="427939" cy="427939"/>
          </a:xfrm>
          <a:prstGeom prst="rect">
            <a:avLst/>
          </a:prstGeom>
        </p:spPr>
      </p:pic>
      <p:sp>
        <p:nvSpPr>
          <p:cNvPr id="11" name="ctx-h-1"/>
          <p:cNvSpPr txBox="1"/>
          <p:nvPr/>
        </p:nvSpPr>
        <p:spPr>
          <a:xfrm>
            <a:off x="4617720" y="2788920"/>
            <a:ext cx="2926080" cy="457200"/>
          </a:xfrm>
          <a:prstGeom prst="rect">
            <a:avLst/>
          </a:prstGeom>
          <a:noFill/>
          <a:ln/>
        </p:spPr>
        <p:txBody>
          <a:bodyPr wrap="square" lIns="0" tIns="0" rIns="0" bIns="0" rtlCol="0" anchor="t"/>
          <a:lstStyle/>
          <a:p>
            <a:pPr indent="0" marL="0">
              <a:buNone/>
            </a:pPr>
            <a:r>
              <a:rPr lang="en-US" sz="2000" b="1" dirty="0">
                <a:solidFill>
                  <a:schemeClr val="tx2"/>
                </a:solidFill>
              </a:rPr>
              <a:t>Nhân sự 3 phòng ban</a:t>
            </a:r>
            <a:endParaRPr lang="en-US" sz="2000" dirty="0"/>
          </a:p>
        </p:txBody>
      </p:sp>
      <p:sp>
        <p:nvSpPr>
          <p:cNvPr id="12" name="ctx-b-1"/>
          <p:cNvSpPr txBox="1"/>
          <p:nvPr/>
        </p:nvSpPr>
        <p:spPr>
          <a:xfrm>
            <a:off x="4617720" y="3337560"/>
            <a:ext cx="2926080" cy="1554480"/>
          </a:xfrm>
          <a:prstGeom prst="rect">
            <a:avLst/>
          </a:prstGeom>
          <a:noFill/>
          <a:ln/>
        </p:spPr>
        <p:txBody>
          <a:bodyPr wrap="square" lIns="0" tIns="0" rIns="0" bIns="0" rtlCol="0" anchor="t"/>
          <a:lstStyle/>
          <a:p>
            <a:pPr indent="0" marL="0">
              <a:buNone/>
            </a:pPr>
            <a:r>
              <a:rPr lang="en-US" sz="1700" dirty="0">
                <a:solidFill>
                  <a:schemeClr val="tx1"/>
                </a:solidFill>
              </a:rPr>
              <a:t>Lập trình viên (dev) · Data Analyst (data) · Tester (qa) — commit code, huấn luyện mô hình</a:t>
            </a:r>
            <a:endParaRPr lang="en-US" sz="1700" dirty="0"/>
          </a:p>
        </p:txBody>
      </p:sp>
      <p:sp>
        <p:nvSpPr>
          <p:cNvPr id="13" name="ctx-card-2"/>
          <p:cNvSpPr/>
          <p:nvPr/>
        </p:nvSpPr>
        <p:spPr>
          <a:xfrm>
            <a:off x="8046720" y="1463040"/>
            <a:ext cx="3520440" cy="3566160"/>
          </a:xfrm>
          <a:prstGeom prst="roundRect">
            <a:avLst>
              <a:gd name="adj" fmla="val 3117"/>
            </a:avLst>
          </a:prstGeom>
          <a:solidFill>
            <a:schemeClr val="bg2"/>
          </a:solidFill>
          <a:ln w="12700">
            <a:solidFill>
              <a:schemeClr val="bg2"/>
            </a:solidFill>
            <a:prstDash val="solid"/>
          </a:ln>
        </p:spPr>
      </p:sp>
      <p:sp>
        <p:nvSpPr>
          <p:cNvPr id="14" name="ctx-icon-2-circle"/>
          <p:cNvSpPr/>
          <p:nvPr/>
        </p:nvSpPr>
        <p:spPr>
          <a:xfrm>
            <a:off x="8366760" y="1783080"/>
            <a:ext cx="822960" cy="822960"/>
          </a:xfrm>
          <a:prstGeom prst="ellipse">
            <a:avLst/>
          </a:prstGeom>
          <a:solidFill>
            <a:schemeClr val="accent2"/>
          </a:solidFill>
          <a:ln w="12700">
            <a:solidFill>
              <a:schemeClr val="accent2"/>
            </a:solidFill>
            <a:prstDash val="solid"/>
          </a:ln>
        </p:spPr>
      </p:sp>
      <p:pic>
        <p:nvPicPr>
          <p:cNvPr id="15" name="ctx-icon-2" descr="ctx-icon-2">    </p:cNvPr>
          <p:cNvPicPr>
            <a:picLocks noChangeAspect="1"/>
          </p:cNvPicPr>
          <p:nvPr/>
        </p:nvPicPr>
        <p:blipFill>
          <a:blip r:embed="rId3"/>
          <a:stretch>
            <a:fillRect/>
          </a:stretch>
        </p:blipFill>
        <p:spPr>
          <a:xfrm>
            <a:off x="8564270" y="1980590"/>
            <a:ext cx="427939" cy="427939"/>
          </a:xfrm>
          <a:prstGeom prst="rect">
            <a:avLst/>
          </a:prstGeom>
        </p:spPr>
      </p:pic>
      <p:sp>
        <p:nvSpPr>
          <p:cNvPr id="16" name="ctx-h-2"/>
          <p:cNvSpPr txBox="1"/>
          <p:nvPr/>
        </p:nvSpPr>
        <p:spPr>
          <a:xfrm>
            <a:off x="8366760" y="2788920"/>
            <a:ext cx="2926080" cy="457200"/>
          </a:xfrm>
          <a:prstGeom prst="rect">
            <a:avLst/>
          </a:prstGeom>
          <a:noFill/>
          <a:ln/>
        </p:spPr>
        <p:txBody>
          <a:bodyPr wrap="square" lIns="0" tIns="0" rIns="0" bIns="0" rtlCol="0" anchor="t"/>
          <a:lstStyle/>
          <a:p>
            <a:pPr indent="0" marL="0">
              <a:buNone/>
            </a:pPr>
            <a:r>
              <a:rPr lang="en-US" sz="2000" b="1" dirty="0">
                <a:solidFill>
                  <a:schemeClr val="tx2"/>
                </a:solidFill>
              </a:rPr>
              <a:t>Anh Hưng — Tech Lead</a:t>
            </a:r>
            <a:endParaRPr lang="en-US" sz="2000" dirty="0"/>
          </a:p>
        </p:txBody>
      </p:sp>
      <p:sp>
        <p:nvSpPr>
          <p:cNvPr id="17" name="ctx-b-2"/>
          <p:cNvSpPr txBox="1"/>
          <p:nvPr/>
        </p:nvSpPr>
        <p:spPr>
          <a:xfrm>
            <a:off x="8366760" y="3337560"/>
            <a:ext cx="2926080" cy="1554480"/>
          </a:xfrm>
          <a:prstGeom prst="rect">
            <a:avLst/>
          </a:prstGeom>
          <a:noFill/>
          <a:ln/>
        </p:spPr>
        <p:txBody>
          <a:bodyPr wrap="square" lIns="0" tIns="0" rIns="0" bIns="0" rtlCol="0" anchor="t"/>
          <a:lstStyle/>
          <a:p>
            <a:pPr indent="0" marL="0">
              <a:buNone/>
            </a:pPr>
            <a:r>
              <a:rPr lang="en-US" sz="1700" dirty="0">
                <a:solidFill>
                  <a:schemeClr val="tx1"/>
                </a:solidFill>
              </a:rPr>
              <a:t>Làm việc từ xa, chỉ dùng terminal qua SSH để điều hành toàn bộ hạ tầng</a:t>
            </a:r>
            <a:endParaRPr lang="en-US" sz="1700" dirty="0"/>
          </a:p>
        </p:txBody>
      </p:sp>
      <p:sp>
        <p:nvSpPr>
          <p:cNvPr id="18" name="ctx-tagline"/>
          <p:cNvSpPr txBox="1"/>
          <p:nvPr/>
        </p:nvSpPr>
        <p:spPr>
          <a:xfrm>
            <a:off x="548640" y="5349240"/>
            <a:ext cx="11064240" cy="548640"/>
          </a:xfrm>
          <a:prstGeom prst="rect">
            <a:avLst/>
          </a:prstGeom>
          <a:noFill/>
          <a:ln/>
        </p:spPr>
        <p:txBody>
          <a:bodyPr wrap="square" lIns="0" tIns="0" rIns="0" bIns="0" rtlCol="0" anchor="t"/>
          <a:lstStyle/>
          <a:p>
            <a:pPr indent="0" marL="0">
              <a:buNone/>
            </a:pPr>
            <a:r>
              <a:rPr lang="en-US" sz="1800" i="1" dirty="0">
                <a:solidFill>
                  <a:schemeClr val="accent1"/>
                </a:solidFill>
              </a:rPr>
              <a:t>Không có GUI, không có ai trực đêm — mọi thứ phải điều khiển được bằng dòng lệnh và tự chạy.</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FA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Bốn nỗi lo hằng ngày của Tech Lead</a:t>
            </a:r>
            <a:endParaRPr lang="en-US" sz="3200" dirty="0"/>
          </a:p>
        </p:txBody>
      </p:sp>
      <p:sp>
        <p:nvSpPr>
          <p:cNvPr id="3" name="pain-card-0"/>
          <p:cNvSpPr/>
          <p:nvPr/>
        </p:nvSpPr>
        <p:spPr>
          <a:xfrm>
            <a:off x="548640" y="1417320"/>
            <a:ext cx="5440680" cy="2194560"/>
          </a:xfrm>
          <a:prstGeom prst="roundRect">
            <a:avLst>
              <a:gd name="adj" fmla="val 5000"/>
            </a:avLst>
          </a:prstGeom>
          <a:solidFill>
            <a:schemeClr val="bg2"/>
          </a:solidFill>
          <a:ln w="12700">
            <a:solidFill>
              <a:schemeClr val="bg2"/>
            </a:solidFill>
            <a:prstDash val="solid"/>
          </a:ln>
        </p:spPr>
      </p:sp>
      <p:sp>
        <p:nvSpPr>
          <p:cNvPr id="4" name="pain-icon-0-circle"/>
          <p:cNvSpPr/>
          <p:nvPr/>
        </p:nvSpPr>
        <p:spPr>
          <a:xfrm>
            <a:off x="868680" y="1783080"/>
            <a:ext cx="777240" cy="777240"/>
          </a:xfrm>
          <a:prstGeom prst="ellipse">
            <a:avLst/>
          </a:prstGeom>
          <a:solidFill>
            <a:schemeClr val="accent5"/>
          </a:solidFill>
          <a:ln w="12700">
            <a:solidFill>
              <a:schemeClr val="accent5"/>
            </a:solidFill>
            <a:prstDash val="solid"/>
          </a:ln>
        </p:spPr>
      </p:sp>
      <p:pic>
        <p:nvPicPr>
          <p:cNvPr id="5" name="pain-icon-0" descr="pain-icon-0">    </p:cNvPr>
          <p:cNvPicPr>
            <a:picLocks noChangeAspect="1"/>
          </p:cNvPicPr>
          <p:nvPr/>
        </p:nvPicPr>
        <p:blipFill>
          <a:blip r:embed="rId1"/>
          <a:stretch>
            <a:fillRect/>
          </a:stretch>
        </p:blipFill>
        <p:spPr>
          <a:xfrm>
            <a:off x="1055218" y="1969618"/>
            <a:ext cx="404165" cy="404165"/>
          </a:xfrm>
          <a:prstGeom prst="rect">
            <a:avLst/>
          </a:prstGeom>
        </p:spPr>
      </p:pic>
      <p:sp>
        <p:nvSpPr>
          <p:cNvPr id="6" name="pain-h-0"/>
          <p:cNvSpPr txBox="1"/>
          <p:nvPr/>
        </p:nvSpPr>
        <p:spPr>
          <a:xfrm>
            <a:off x="1920240" y="1737360"/>
            <a:ext cx="3840480" cy="457200"/>
          </a:xfrm>
          <a:prstGeom prst="rect">
            <a:avLst/>
          </a:prstGeom>
          <a:noFill/>
          <a:ln/>
        </p:spPr>
        <p:txBody>
          <a:bodyPr wrap="square" lIns="0" tIns="0" rIns="0" bIns="0" rtlCol="0" anchor="t"/>
          <a:lstStyle/>
          <a:p>
            <a:pPr indent="0" marL="0">
              <a:buNone/>
            </a:pPr>
            <a:r>
              <a:rPr lang="en-US" sz="2000" b="1" dirty="0">
                <a:solidFill>
                  <a:schemeClr val="tx2"/>
                </a:solidFill>
              </a:rPr>
              <a:t>Nhân viên vào/ra liên tục</a:t>
            </a:r>
            <a:endParaRPr lang="en-US" sz="2000" dirty="0"/>
          </a:p>
        </p:txBody>
      </p:sp>
      <p:sp>
        <p:nvSpPr>
          <p:cNvPr id="7" name="pain-b-0"/>
          <p:cNvSpPr txBox="1"/>
          <p:nvPr/>
        </p:nvSpPr>
        <p:spPr>
          <a:xfrm>
            <a:off x="1920240" y="2286000"/>
            <a:ext cx="3840480" cy="1188720"/>
          </a:xfrm>
          <a:prstGeom prst="rect">
            <a:avLst/>
          </a:prstGeom>
          <a:noFill/>
          <a:ln/>
        </p:spPr>
        <p:txBody>
          <a:bodyPr wrap="square" lIns="0" tIns="0" rIns="0" bIns="0" rtlCol="0" anchor="t"/>
          <a:lstStyle/>
          <a:p>
            <a:pPr indent="0" marL="0">
              <a:buNone/>
            </a:pPr>
            <a:r>
              <a:rPr lang="en-US" sz="1700" dirty="0">
                <a:solidFill>
                  <a:schemeClr val="tx1"/>
                </a:solidFill>
              </a:rPr>
              <a:t>Tạo tài khoản, phân quyền theo phòng ban, thu hồi quyền khi nghỉ việc — làm tay dễ sót bước</a:t>
            </a:r>
            <a:endParaRPr lang="en-US" sz="1700" dirty="0"/>
          </a:p>
        </p:txBody>
      </p:sp>
      <p:sp>
        <p:nvSpPr>
          <p:cNvPr id="8" name="pain-card-1"/>
          <p:cNvSpPr/>
          <p:nvPr/>
        </p:nvSpPr>
        <p:spPr>
          <a:xfrm>
            <a:off x="6172200" y="1417320"/>
            <a:ext cx="5440680" cy="2194560"/>
          </a:xfrm>
          <a:prstGeom prst="roundRect">
            <a:avLst>
              <a:gd name="adj" fmla="val 5000"/>
            </a:avLst>
          </a:prstGeom>
          <a:solidFill>
            <a:schemeClr val="bg2"/>
          </a:solidFill>
          <a:ln w="12700">
            <a:solidFill>
              <a:schemeClr val="bg2"/>
            </a:solidFill>
            <a:prstDash val="solid"/>
          </a:ln>
        </p:spPr>
      </p:sp>
      <p:sp>
        <p:nvSpPr>
          <p:cNvPr id="9" name="pain-icon-1-circle"/>
          <p:cNvSpPr/>
          <p:nvPr/>
        </p:nvSpPr>
        <p:spPr>
          <a:xfrm>
            <a:off x="6492240" y="1783080"/>
            <a:ext cx="777240" cy="777240"/>
          </a:xfrm>
          <a:prstGeom prst="ellipse">
            <a:avLst/>
          </a:prstGeom>
          <a:solidFill>
            <a:schemeClr val="accent5"/>
          </a:solidFill>
          <a:ln w="12700">
            <a:solidFill>
              <a:schemeClr val="accent5"/>
            </a:solidFill>
            <a:prstDash val="solid"/>
          </a:ln>
        </p:spPr>
      </p:sp>
      <p:pic>
        <p:nvPicPr>
          <p:cNvPr id="10" name="pain-icon-1" descr="pain-icon-1">    </p:cNvPr>
          <p:cNvPicPr>
            <a:picLocks noChangeAspect="1"/>
          </p:cNvPicPr>
          <p:nvPr/>
        </p:nvPicPr>
        <p:blipFill>
          <a:blip r:embed="rId2"/>
          <a:stretch>
            <a:fillRect/>
          </a:stretch>
        </p:blipFill>
        <p:spPr>
          <a:xfrm>
            <a:off x="6678778" y="1969618"/>
            <a:ext cx="404165" cy="404165"/>
          </a:xfrm>
          <a:prstGeom prst="rect">
            <a:avLst/>
          </a:prstGeom>
        </p:spPr>
      </p:pic>
      <p:sp>
        <p:nvSpPr>
          <p:cNvPr id="11" name="pain-h-1"/>
          <p:cNvSpPr txBox="1"/>
          <p:nvPr/>
        </p:nvSpPr>
        <p:spPr>
          <a:xfrm>
            <a:off x="7543800" y="1737360"/>
            <a:ext cx="3840480" cy="457200"/>
          </a:xfrm>
          <a:prstGeom prst="rect">
            <a:avLst/>
          </a:prstGeom>
          <a:noFill/>
          <a:ln/>
        </p:spPr>
        <p:txBody>
          <a:bodyPr wrap="square" lIns="0" tIns="0" rIns="0" bIns="0" rtlCol="0" anchor="t"/>
          <a:lstStyle/>
          <a:p>
            <a:pPr indent="0" marL="0">
              <a:buNone/>
            </a:pPr>
            <a:r>
              <a:rPr lang="en-US" sz="2000" b="1" dirty="0">
                <a:solidFill>
                  <a:schemeClr val="tx2"/>
                </a:solidFill>
              </a:rPr>
              <a:t>Process treo ngốn CPU/RAM</a:t>
            </a:r>
            <a:endParaRPr lang="en-US" sz="2000" dirty="0"/>
          </a:p>
        </p:txBody>
      </p:sp>
      <p:sp>
        <p:nvSpPr>
          <p:cNvPr id="12" name="pain-b-1"/>
          <p:cNvSpPr txBox="1"/>
          <p:nvPr/>
        </p:nvSpPr>
        <p:spPr>
          <a:xfrm>
            <a:off x="7543800" y="2286000"/>
            <a:ext cx="3840480" cy="1188720"/>
          </a:xfrm>
          <a:prstGeom prst="rect">
            <a:avLst/>
          </a:prstGeom>
          <a:noFill/>
          <a:ln/>
        </p:spPr>
        <p:txBody>
          <a:bodyPr wrap="square" lIns="0" tIns="0" rIns="0" bIns="0" rtlCol="0" anchor="t"/>
          <a:lstStyle/>
          <a:p>
            <a:pPr indent="0" marL="0">
              <a:buNone/>
            </a:pPr>
            <a:r>
              <a:rPr lang="en-US" sz="1700" dirty="0">
                <a:solidFill>
                  <a:schemeClr val="tx1"/>
                </a:solidFill>
              </a:rPr>
              <a:t>Ai đang làm gì? Ai chạy mô hình làm máy chậm cho cả công ty?</a:t>
            </a:r>
            <a:endParaRPr lang="en-US" sz="1700" dirty="0"/>
          </a:p>
        </p:txBody>
      </p:sp>
      <p:sp>
        <p:nvSpPr>
          <p:cNvPr id="13" name="pain-card-2"/>
          <p:cNvSpPr/>
          <p:nvPr/>
        </p:nvSpPr>
        <p:spPr>
          <a:xfrm>
            <a:off x="548640" y="3840480"/>
            <a:ext cx="5440680" cy="2194560"/>
          </a:xfrm>
          <a:prstGeom prst="roundRect">
            <a:avLst>
              <a:gd name="adj" fmla="val 5000"/>
            </a:avLst>
          </a:prstGeom>
          <a:solidFill>
            <a:schemeClr val="bg2"/>
          </a:solidFill>
          <a:ln w="12700">
            <a:solidFill>
              <a:schemeClr val="bg2"/>
            </a:solidFill>
            <a:prstDash val="solid"/>
          </a:ln>
        </p:spPr>
      </p:sp>
      <p:sp>
        <p:nvSpPr>
          <p:cNvPr id="14" name="pain-icon-2-circle"/>
          <p:cNvSpPr/>
          <p:nvPr/>
        </p:nvSpPr>
        <p:spPr>
          <a:xfrm>
            <a:off x="868680" y="4206240"/>
            <a:ext cx="777240" cy="777240"/>
          </a:xfrm>
          <a:prstGeom prst="ellipse">
            <a:avLst/>
          </a:prstGeom>
          <a:solidFill>
            <a:schemeClr val="accent5"/>
          </a:solidFill>
          <a:ln w="12700">
            <a:solidFill>
              <a:schemeClr val="accent5"/>
            </a:solidFill>
            <a:prstDash val="solid"/>
          </a:ln>
        </p:spPr>
      </p:sp>
      <p:pic>
        <p:nvPicPr>
          <p:cNvPr id="15" name="pain-icon-2" descr="pain-icon-2">    </p:cNvPr>
          <p:cNvPicPr>
            <a:picLocks noChangeAspect="1"/>
          </p:cNvPicPr>
          <p:nvPr/>
        </p:nvPicPr>
        <p:blipFill>
          <a:blip r:embed="rId3"/>
          <a:stretch>
            <a:fillRect/>
          </a:stretch>
        </p:blipFill>
        <p:spPr>
          <a:xfrm>
            <a:off x="1055218" y="4392778"/>
            <a:ext cx="404165" cy="404165"/>
          </a:xfrm>
          <a:prstGeom prst="rect">
            <a:avLst/>
          </a:prstGeom>
        </p:spPr>
      </p:pic>
      <p:sp>
        <p:nvSpPr>
          <p:cNvPr id="16" name="pain-h-2"/>
          <p:cNvSpPr txBox="1"/>
          <p:nvPr/>
        </p:nvSpPr>
        <p:spPr>
          <a:xfrm>
            <a:off x="1920240" y="4160520"/>
            <a:ext cx="3840480" cy="457200"/>
          </a:xfrm>
          <a:prstGeom prst="rect">
            <a:avLst/>
          </a:prstGeom>
          <a:noFill/>
          <a:ln/>
        </p:spPr>
        <p:txBody>
          <a:bodyPr wrap="square" lIns="0" tIns="0" rIns="0" bIns="0" rtlCol="0" anchor="t"/>
          <a:lstStyle/>
          <a:p>
            <a:pPr indent="0" marL="0">
              <a:buNone/>
            </a:pPr>
            <a:r>
              <a:rPr lang="en-US" sz="2000" b="1" dirty="0">
                <a:solidFill>
                  <a:schemeClr val="tx2"/>
                </a:solidFill>
              </a:rPr>
              <a:t>Sự cố lúc nửa đêm</a:t>
            </a:r>
            <a:endParaRPr lang="en-US" sz="2000" dirty="0"/>
          </a:p>
        </p:txBody>
      </p:sp>
      <p:sp>
        <p:nvSpPr>
          <p:cNvPr id="17" name="pain-b-2"/>
          <p:cNvSpPr txBox="1"/>
          <p:nvPr/>
        </p:nvSpPr>
        <p:spPr>
          <a:xfrm>
            <a:off x="1920240" y="4709160"/>
            <a:ext cx="3840480" cy="1188720"/>
          </a:xfrm>
          <a:prstGeom prst="rect">
            <a:avLst/>
          </a:prstGeom>
          <a:noFill/>
          <a:ln/>
        </p:spPr>
        <p:txBody>
          <a:bodyPr wrap="square" lIns="0" tIns="0" rIns="0" bIns="0" rtlCol="0" anchor="t"/>
          <a:lstStyle/>
          <a:p>
            <a:pPr indent="0" marL="0">
              <a:buNone/>
            </a:pPr>
            <a:r>
              <a:rPr lang="en-US" sz="1700" dirty="0">
                <a:solidFill>
                  <a:schemeClr val="tx1"/>
                </a:solidFill>
              </a:rPr>
              <a:t>Đĩa đầy, dịch vụ chết, bị dò mật khẩu SSH — chỉ biết khi nhân viên phản ánh</a:t>
            </a:r>
            <a:endParaRPr lang="en-US" sz="1700" dirty="0"/>
          </a:p>
        </p:txBody>
      </p:sp>
      <p:sp>
        <p:nvSpPr>
          <p:cNvPr id="18" name="pain-card-3"/>
          <p:cNvSpPr/>
          <p:nvPr/>
        </p:nvSpPr>
        <p:spPr>
          <a:xfrm>
            <a:off x="6172200" y="3840480"/>
            <a:ext cx="5440680" cy="2194560"/>
          </a:xfrm>
          <a:prstGeom prst="roundRect">
            <a:avLst>
              <a:gd name="adj" fmla="val 5000"/>
            </a:avLst>
          </a:prstGeom>
          <a:solidFill>
            <a:schemeClr val="bg2"/>
          </a:solidFill>
          <a:ln w="12700">
            <a:solidFill>
              <a:schemeClr val="bg2"/>
            </a:solidFill>
            <a:prstDash val="solid"/>
          </a:ln>
        </p:spPr>
      </p:sp>
      <p:sp>
        <p:nvSpPr>
          <p:cNvPr id="19" name="pain-icon-3-circle"/>
          <p:cNvSpPr/>
          <p:nvPr/>
        </p:nvSpPr>
        <p:spPr>
          <a:xfrm>
            <a:off x="6492240" y="4206240"/>
            <a:ext cx="777240" cy="777240"/>
          </a:xfrm>
          <a:prstGeom prst="ellipse">
            <a:avLst/>
          </a:prstGeom>
          <a:solidFill>
            <a:schemeClr val="accent5"/>
          </a:solidFill>
          <a:ln w="12700">
            <a:solidFill>
              <a:schemeClr val="accent5"/>
            </a:solidFill>
            <a:prstDash val="solid"/>
          </a:ln>
        </p:spPr>
      </p:sp>
      <p:pic>
        <p:nvPicPr>
          <p:cNvPr id="20" name="pain-icon-3" descr="pain-icon-3">    </p:cNvPr>
          <p:cNvPicPr>
            <a:picLocks noChangeAspect="1"/>
          </p:cNvPicPr>
          <p:nvPr/>
        </p:nvPicPr>
        <p:blipFill>
          <a:blip r:embed="rId4"/>
          <a:stretch>
            <a:fillRect/>
          </a:stretch>
        </p:blipFill>
        <p:spPr>
          <a:xfrm>
            <a:off x="6678778" y="4392778"/>
            <a:ext cx="404165" cy="404165"/>
          </a:xfrm>
          <a:prstGeom prst="rect">
            <a:avLst/>
          </a:prstGeom>
        </p:spPr>
      </p:pic>
      <p:sp>
        <p:nvSpPr>
          <p:cNvPr id="21" name="pain-h-3"/>
          <p:cNvSpPr txBox="1"/>
          <p:nvPr/>
        </p:nvSpPr>
        <p:spPr>
          <a:xfrm>
            <a:off x="7543800" y="4160520"/>
            <a:ext cx="3840480" cy="457200"/>
          </a:xfrm>
          <a:prstGeom prst="rect">
            <a:avLst/>
          </a:prstGeom>
          <a:noFill/>
          <a:ln/>
        </p:spPr>
        <p:txBody>
          <a:bodyPr wrap="square" lIns="0" tIns="0" rIns="0" bIns="0" rtlCol="0" anchor="t"/>
          <a:lstStyle/>
          <a:p>
            <a:pPr indent="0" marL="0">
              <a:buNone/>
            </a:pPr>
            <a:r>
              <a:rPr lang="en-US" sz="2000" b="1" dirty="0">
                <a:solidFill>
                  <a:schemeClr val="tx2"/>
                </a:solidFill>
              </a:rPr>
              <a:t>Tài sản số &amp; bảo dưỡng</a:t>
            </a:r>
            <a:endParaRPr lang="en-US" sz="2000" dirty="0"/>
          </a:p>
        </p:txBody>
      </p:sp>
      <p:sp>
        <p:nvSpPr>
          <p:cNvPr id="22" name="pain-b-3"/>
          <p:cNvSpPr txBox="1"/>
          <p:nvPr/>
        </p:nvSpPr>
        <p:spPr>
          <a:xfrm>
            <a:off x="7543800" y="4709160"/>
            <a:ext cx="3840480" cy="1188720"/>
          </a:xfrm>
          <a:prstGeom prst="rect">
            <a:avLst/>
          </a:prstGeom>
          <a:noFill/>
          <a:ln/>
        </p:spPr>
        <p:txBody>
          <a:bodyPr wrap="square" lIns="0" tIns="0" rIns="0" bIns="0" rtlCol="0" anchor="t"/>
          <a:lstStyle/>
          <a:p>
            <a:pPr indent="0" marL="0">
              <a:buNone/>
            </a:pPr>
            <a:r>
              <a:rPr lang="en-US" sz="1700" dirty="0">
                <a:solidFill>
                  <a:schemeClr val="tx1"/>
                </a:solidFill>
              </a:rPr>
              <a:t>Mã nguồn, dữ liệu phải được sao lưu; log, file tạm phải dọn đều đặn</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FA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Giải pháp: 5 chức năng trong một lệnh sysadmin</a:t>
            </a:r>
            <a:endParaRPr lang="en-US" sz="3200" dirty="0"/>
          </a:p>
        </p:txBody>
      </p:sp>
      <p:sp>
        <p:nvSpPr>
          <p:cNvPr id="3" name="fn-card-0"/>
          <p:cNvSpPr/>
          <p:nvPr/>
        </p:nvSpPr>
        <p:spPr>
          <a:xfrm>
            <a:off x="548640" y="1463040"/>
            <a:ext cx="2103120" cy="3931920"/>
          </a:xfrm>
          <a:prstGeom prst="roundRect">
            <a:avLst>
              <a:gd name="adj" fmla="val 5217"/>
            </a:avLst>
          </a:prstGeom>
          <a:solidFill>
            <a:schemeClr val="bg2"/>
          </a:solidFill>
          <a:ln w="12700">
            <a:solidFill>
              <a:schemeClr val="bg2"/>
            </a:solidFill>
            <a:prstDash val="solid"/>
          </a:ln>
        </p:spPr>
      </p:sp>
      <p:sp>
        <p:nvSpPr>
          <p:cNvPr id="4" name="fn-icon-0-circle"/>
          <p:cNvSpPr/>
          <p:nvPr/>
        </p:nvSpPr>
        <p:spPr>
          <a:xfrm>
            <a:off x="1188720" y="1737360"/>
            <a:ext cx="822960" cy="822960"/>
          </a:xfrm>
          <a:prstGeom prst="ellipse">
            <a:avLst/>
          </a:prstGeom>
          <a:solidFill>
            <a:schemeClr val="accent1"/>
          </a:solidFill>
          <a:ln w="12700">
            <a:solidFill>
              <a:schemeClr val="accent1"/>
            </a:solidFill>
            <a:prstDash val="solid"/>
          </a:ln>
        </p:spPr>
      </p:sp>
      <p:pic>
        <p:nvPicPr>
          <p:cNvPr id="5" name="fn-icon-0" descr="fn-icon-0">    </p:cNvPr>
          <p:cNvPicPr>
            <a:picLocks noChangeAspect="1"/>
          </p:cNvPicPr>
          <p:nvPr/>
        </p:nvPicPr>
        <p:blipFill>
          <a:blip r:embed="rId1"/>
          <a:stretch>
            <a:fillRect/>
          </a:stretch>
        </p:blipFill>
        <p:spPr>
          <a:xfrm>
            <a:off x="1386230" y="1934870"/>
            <a:ext cx="427939" cy="427939"/>
          </a:xfrm>
          <a:prstGeom prst="rect">
            <a:avLst/>
          </a:prstGeom>
        </p:spPr>
      </p:pic>
      <p:sp>
        <p:nvSpPr>
          <p:cNvPr id="6" name="fn-name-0"/>
          <p:cNvSpPr txBox="1"/>
          <p:nvPr/>
        </p:nvSpPr>
        <p:spPr>
          <a:xfrm>
            <a:off x="685800" y="2743200"/>
            <a:ext cx="1828800" cy="411480"/>
          </a:xfrm>
          <a:prstGeom prst="rect">
            <a:avLst/>
          </a:prstGeom>
          <a:noFill/>
          <a:ln/>
        </p:spPr>
        <p:txBody>
          <a:bodyPr wrap="square" lIns="0" tIns="0" rIns="0" bIns="0" rtlCol="0" anchor="t"/>
          <a:lstStyle/>
          <a:p>
            <a:pPr algn="ctr" indent="0" marL="0">
              <a:buNone/>
            </a:pPr>
            <a:r>
              <a:rPr lang="en-US" sz="2000" b="1" dirty="0">
                <a:solidFill>
                  <a:schemeClr val="accent1"/>
                </a:solidFill>
                <a:latin typeface="Courier New" pitchFamily="34" charset="0"/>
                <a:ea typeface="Courier New" pitchFamily="34" charset="-122"/>
                <a:cs typeface="Courier New" pitchFamily="34" charset="-120"/>
              </a:rPr>
              <a:t>users</a:t>
            </a:r>
            <a:endParaRPr lang="en-US" sz="2000" dirty="0"/>
          </a:p>
        </p:txBody>
      </p:sp>
      <p:sp>
        <p:nvSpPr>
          <p:cNvPr id="7" name="fn-h-0"/>
          <p:cNvSpPr txBox="1"/>
          <p:nvPr/>
        </p:nvSpPr>
        <p:spPr>
          <a:xfrm>
            <a:off x="685800" y="3246120"/>
            <a:ext cx="1828800" cy="777240"/>
          </a:xfrm>
          <a:prstGeom prst="rect">
            <a:avLst/>
          </a:prstGeom>
          <a:noFill/>
          <a:ln/>
        </p:spPr>
        <p:txBody>
          <a:bodyPr wrap="square" lIns="0" tIns="0" rIns="0" bIns="0" rtlCol="0" anchor="t"/>
          <a:lstStyle/>
          <a:p>
            <a:pPr algn="ctr" indent="0" marL="0">
              <a:buNone/>
            </a:pPr>
            <a:r>
              <a:rPr lang="en-US" sz="1600" b="1" dirty="0">
                <a:solidFill>
                  <a:schemeClr val="tx2"/>
                </a:solidFill>
              </a:rPr>
              <a:t>Nhân viên &amp; phân quyền</a:t>
            </a:r>
            <a:endParaRPr lang="en-US" sz="1600" dirty="0"/>
          </a:p>
        </p:txBody>
      </p:sp>
      <p:sp>
        <p:nvSpPr>
          <p:cNvPr id="8" name="fn-b-0"/>
          <p:cNvSpPr txBox="1"/>
          <p:nvPr/>
        </p:nvSpPr>
        <p:spPr>
          <a:xfrm>
            <a:off x="685800" y="4114800"/>
            <a:ext cx="1828800" cy="1097280"/>
          </a:xfrm>
          <a:prstGeom prst="rect">
            <a:avLst/>
          </a:prstGeom>
          <a:noFill/>
          <a:ln/>
        </p:spPr>
        <p:txBody>
          <a:bodyPr wrap="square" lIns="0" tIns="0" rIns="0" bIns="0" rtlCol="0" anchor="t"/>
          <a:lstStyle/>
          <a:p>
            <a:pPr algn="ctr" indent="0" marL="0">
              <a:buNone/>
            </a:pPr>
            <a:r>
              <a:rPr lang="en-US" sz="1500" dirty="0">
                <a:solidFill>
                  <a:srgbClr val="4A5868"/>
                </a:solidFill>
              </a:rPr>
              <a:t>create · setup-dirs · offboard · audit</a:t>
            </a:r>
            <a:endParaRPr lang="en-US" sz="1500" dirty="0"/>
          </a:p>
        </p:txBody>
      </p:sp>
      <p:sp>
        <p:nvSpPr>
          <p:cNvPr id="9" name="fn-card-1"/>
          <p:cNvSpPr/>
          <p:nvPr/>
        </p:nvSpPr>
        <p:spPr>
          <a:xfrm>
            <a:off x="2798064" y="1463040"/>
            <a:ext cx="2103120" cy="3931920"/>
          </a:xfrm>
          <a:prstGeom prst="roundRect">
            <a:avLst>
              <a:gd name="adj" fmla="val 5217"/>
            </a:avLst>
          </a:prstGeom>
          <a:solidFill>
            <a:schemeClr val="bg2"/>
          </a:solidFill>
          <a:ln w="12700">
            <a:solidFill>
              <a:schemeClr val="bg2"/>
            </a:solidFill>
            <a:prstDash val="solid"/>
          </a:ln>
        </p:spPr>
      </p:sp>
      <p:sp>
        <p:nvSpPr>
          <p:cNvPr id="10" name="fn-icon-1-circle"/>
          <p:cNvSpPr/>
          <p:nvPr/>
        </p:nvSpPr>
        <p:spPr>
          <a:xfrm>
            <a:off x="3438144" y="1737360"/>
            <a:ext cx="822960" cy="822960"/>
          </a:xfrm>
          <a:prstGeom prst="ellipse">
            <a:avLst/>
          </a:prstGeom>
          <a:solidFill>
            <a:schemeClr val="accent1"/>
          </a:solidFill>
          <a:ln w="12700">
            <a:solidFill>
              <a:schemeClr val="accent1"/>
            </a:solidFill>
            <a:prstDash val="solid"/>
          </a:ln>
        </p:spPr>
      </p:sp>
      <p:pic>
        <p:nvPicPr>
          <p:cNvPr id="11" name="fn-icon-1" descr="fn-icon-1">    </p:cNvPr>
          <p:cNvPicPr>
            <a:picLocks noChangeAspect="1"/>
          </p:cNvPicPr>
          <p:nvPr/>
        </p:nvPicPr>
        <p:blipFill>
          <a:blip r:embed="rId2"/>
          <a:stretch>
            <a:fillRect/>
          </a:stretch>
        </p:blipFill>
        <p:spPr>
          <a:xfrm>
            <a:off x="3635654" y="1934870"/>
            <a:ext cx="427939" cy="427939"/>
          </a:xfrm>
          <a:prstGeom prst="rect">
            <a:avLst/>
          </a:prstGeom>
        </p:spPr>
      </p:pic>
      <p:sp>
        <p:nvSpPr>
          <p:cNvPr id="12" name="fn-name-1"/>
          <p:cNvSpPr txBox="1"/>
          <p:nvPr/>
        </p:nvSpPr>
        <p:spPr>
          <a:xfrm>
            <a:off x="2935224" y="2743200"/>
            <a:ext cx="1828800" cy="411480"/>
          </a:xfrm>
          <a:prstGeom prst="rect">
            <a:avLst/>
          </a:prstGeom>
          <a:noFill/>
          <a:ln/>
        </p:spPr>
        <p:txBody>
          <a:bodyPr wrap="square" lIns="0" tIns="0" rIns="0" bIns="0" rtlCol="0" anchor="t"/>
          <a:lstStyle/>
          <a:p>
            <a:pPr algn="ctr" indent="0" marL="0">
              <a:buNone/>
            </a:pPr>
            <a:r>
              <a:rPr lang="en-US" sz="2000" b="1" dirty="0">
                <a:solidFill>
                  <a:schemeClr val="accent1"/>
                </a:solidFill>
                <a:latin typeface="Courier New" pitchFamily="34" charset="0"/>
                <a:ea typeface="Courier New" pitchFamily="34" charset="-122"/>
                <a:cs typeface="Courier New" pitchFamily="34" charset="-120"/>
              </a:rPr>
              <a:t>monitor</a:t>
            </a:r>
            <a:endParaRPr lang="en-US" sz="2000" dirty="0"/>
          </a:p>
        </p:txBody>
      </p:sp>
      <p:sp>
        <p:nvSpPr>
          <p:cNvPr id="13" name="fn-h-1"/>
          <p:cNvSpPr txBox="1"/>
          <p:nvPr/>
        </p:nvSpPr>
        <p:spPr>
          <a:xfrm>
            <a:off x="2935224" y="3246120"/>
            <a:ext cx="1828800" cy="777240"/>
          </a:xfrm>
          <a:prstGeom prst="rect">
            <a:avLst/>
          </a:prstGeom>
          <a:noFill/>
          <a:ln/>
        </p:spPr>
        <p:txBody>
          <a:bodyPr wrap="square" lIns="0" tIns="0" rIns="0" bIns="0" rtlCol="0" anchor="t"/>
          <a:lstStyle/>
          <a:p>
            <a:pPr algn="ctr" indent="0" marL="0">
              <a:buNone/>
            </a:pPr>
            <a:r>
              <a:rPr lang="en-US" sz="1600" b="1" dirty="0">
                <a:solidFill>
                  <a:schemeClr val="tx2"/>
                </a:solidFill>
              </a:rPr>
              <a:t>Ai làm gì, ai treo process</a:t>
            </a:r>
            <a:endParaRPr lang="en-US" sz="1600" dirty="0"/>
          </a:p>
        </p:txBody>
      </p:sp>
      <p:sp>
        <p:nvSpPr>
          <p:cNvPr id="14" name="fn-b-1"/>
          <p:cNvSpPr txBox="1"/>
          <p:nvPr/>
        </p:nvSpPr>
        <p:spPr>
          <a:xfrm>
            <a:off x="2935224" y="4114800"/>
            <a:ext cx="1828800" cy="1097280"/>
          </a:xfrm>
          <a:prstGeom prst="rect">
            <a:avLst/>
          </a:prstGeom>
          <a:noFill/>
          <a:ln/>
        </p:spPr>
        <p:txBody>
          <a:bodyPr wrap="square" lIns="0" tIns="0" rIns="0" bIns="0" rtlCol="0" anchor="t"/>
          <a:lstStyle/>
          <a:p>
            <a:pPr algn="ctr" indent="0" marL="0">
              <a:buNone/>
            </a:pPr>
            <a:r>
              <a:rPr lang="en-US" sz="1500" dirty="0">
                <a:solidFill>
                  <a:srgbClr val="4A5868"/>
                </a:solidFill>
              </a:rPr>
              <a:t>who · usage · hogs · kill</a:t>
            </a:r>
            <a:endParaRPr lang="en-US" sz="1500" dirty="0"/>
          </a:p>
        </p:txBody>
      </p:sp>
      <p:sp>
        <p:nvSpPr>
          <p:cNvPr id="15" name="fn-card-2"/>
          <p:cNvSpPr/>
          <p:nvPr/>
        </p:nvSpPr>
        <p:spPr>
          <a:xfrm>
            <a:off x="5047488" y="1463040"/>
            <a:ext cx="2103120" cy="3931920"/>
          </a:xfrm>
          <a:prstGeom prst="roundRect">
            <a:avLst>
              <a:gd name="adj" fmla="val 5217"/>
            </a:avLst>
          </a:prstGeom>
          <a:solidFill>
            <a:schemeClr val="bg2"/>
          </a:solidFill>
          <a:ln w="12700">
            <a:solidFill>
              <a:schemeClr val="bg2"/>
            </a:solidFill>
            <a:prstDash val="solid"/>
          </a:ln>
        </p:spPr>
      </p:sp>
      <p:sp>
        <p:nvSpPr>
          <p:cNvPr id="16" name="fn-icon-2-circle"/>
          <p:cNvSpPr/>
          <p:nvPr/>
        </p:nvSpPr>
        <p:spPr>
          <a:xfrm>
            <a:off x="5687568" y="1737360"/>
            <a:ext cx="822960" cy="822960"/>
          </a:xfrm>
          <a:prstGeom prst="ellipse">
            <a:avLst/>
          </a:prstGeom>
          <a:solidFill>
            <a:schemeClr val="accent1"/>
          </a:solidFill>
          <a:ln w="12700">
            <a:solidFill>
              <a:schemeClr val="accent1"/>
            </a:solidFill>
            <a:prstDash val="solid"/>
          </a:ln>
        </p:spPr>
      </p:sp>
      <p:pic>
        <p:nvPicPr>
          <p:cNvPr id="17" name="fn-icon-2" descr="fn-icon-2">    </p:cNvPr>
          <p:cNvPicPr>
            <a:picLocks noChangeAspect="1"/>
          </p:cNvPicPr>
          <p:nvPr/>
        </p:nvPicPr>
        <p:blipFill>
          <a:blip r:embed="rId3"/>
          <a:stretch>
            <a:fillRect/>
          </a:stretch>
        </p:blipFill>
        <p:spPr>
          <a:xfrm>
            <a:off x="5885078" y="1934870"/>
            <a:ext cx="427939" cy="427939"/>
          </a:xfrm>
          <a:prstGeom prst="rect">
            <a:avLst/>
          </a:prstGeom>
        </p:spPr>
      </p:pic>
      <p:sp>
        <p:nvSpPr>
          <p:cNvPr id="18" name="fn-name-2"/>
          <p:cNvSpPr txBox="1"/>
          <p:nvPr/>
        </p:nvSpPr>
        <p:spPr>
          <a:xfrm>
            <a:off x="5184648" y="2743200"/>
            <a:ext cx="1828800" cy="411480"/>
          </a:xfrm>
          <a:prstGeom prst="rect">
            <a:avLst/>
          </a:prstGeom>
          <a:noFill/>
          <a:ln/>
        </p:spPr>
        <p:txBody>
          <a:bodyPr wrap="square" lIns="0" tIns="0" rIns="0" bIns="0" rtlCol="0" anchor="t"/>
          <a:lstStyle/>
          <a:p>
            <a:pPr algn="ctr" indent="0" marL="0">
              <a:buNone/>
            </a:pPr>
            <a:r>
              <a:rPr lang="en-US" sz="2000" b="1" dirty="0">
                <a:solidFill>
                  <a:schemeClr val="accent1"/>
                </a:solidFill>
                <a:latin typeface="Courier New" pitchFamily="34" charset="0"/>
                <a:ea typeface="Courier New" pitchFamily="34" charset="-122"/>
                <a:cs typeface="Courier New" pitchFamily="34" charset="-120"/>
              </a:rPr>
              <a:t>alert</a:t>
            </a:r>
            <a:endParaRPr lang="en-US" sz="2000" dirty="0"/>
          </a:p>
        </p:txBody>
      </p:sp>
      <p:sp>
        <p:nvSpPr>
          <p:cNvPr id="19" name="fn-h-2"/>
          <p:cNvSpPr txBox="1"/>
          <p:nvPr/>
        </p:nvSpPr>
        <p:spPr>
          <a:xfrm>
            <a:off x="5184648" y="3246120"/>
            <a:ext cx="1828800" cy="777240"/>
          </a:xfrm>
          <a:prstGeom prst="rect">
            <a:avLst/>
          </a:prstGeom>
          <a:noFill/>
          <a:ln/>
        </p:spPr>
        <p:txBody>
          <a:bodyPr wrap="square" lIns="0" tIns="0" rIns="0" bIns="0" rtlCol="0" anchor="t"/>
          <a:lstStyle/>
          <a:p>
            <a:pPr algn="ctr" indent="0" marL="0">
              <a:buNone/>
            </a:pPr>
            <a:r>
              <a:rPr lang="en-US" sz="1600" b="1" dirty="0">
                <a:solidFill>
                  <a:schemeClr val="tx2"/>
                </a:solidFill>
              </a:rPr>
              <a:t>Cảnh báo tức thời</a:t>
            </a:r>
            <a:endParaRPr lang="en-US" sz="1600" dirty="0"/>
          </a:p>
        </p:txBody>
      </p:sp>
      <p:sp>
        <p:nvSpPr>
          <p:cNvPr id="20" name="fn-b-2"/>
          <p:cNvSpPr txBox="1"/>
          <p:nvPr/>
        </p:nvSpPr>
        <p:spPr>
          <a:xfrm>
            <a:off x="5184648" y="4114800"/>
            <a:ext cx="1828800" cy="1097280"/>
          </a:xfrm>
          <a:prstGeom prst="rect">
            <a:avLst/>
          </a:prstGeom>
          <a:noFill/>
          <a:ln/>
        </p:spPr>
        <p:txBody>
          <a:bodyPr wrap="square" lIns="0" tIns="0" rIns="0" bIns="0" rtlCol="0" anchor="t"/>
          <a:lstStyle/>
          <a:p>
            <a:pPr algn="ctr" indent="0" marL="0">
              <a:buNone/>
            </a:pPr>
            <a:r>
              <a:rPr lang="en-US" sz="1500" dirty="0">
                <a:solidFill>
                  <a:srgbClr val="4A5868"/>
                </a:solidFill>
              </a:rPr>
              <a:t>email · Telegram · cooldown</a:t>
            </a:r>
            <a:endParaRPr lang="en-US" sz="1500" dirty="0"/>
          </a:p>
        </p:txBody>
      </p:sp>
      <p:sp>
        <p:nvSpPr>
          <p:cNvPr id="21" name="fn-card-3"/>
          <p:cNvSpPr/>
          <p:nvPr/>
        </p:nvSpPr>
        <p:spPr>
          <a:xfrm>
            <a:off x="7296912" y="1463040"/>
            <a:ext cx="2103120" cy="3931920"/>
          </a:xfrm>
          <a:prstGeom prst="roundRect">
            <a:avLst>
              <a:gd name="adj" fmla="val 5217"/>
            </a:avLst>
          </a:prstGeom>
          <a:solidFill>
            <a:schemeClr val="bg2"/>
          </a:solidFill>
          <a:ln w="12700">
            <a:solidFill>
              <a:schemeClr val="bg2"/>
            </a:solidFill>
            <a:prstDash val="solid"/>
          </a:ln>
        </p:spPr>
      </p:sp>
      <p:sp>
        <p:nvSpPr>
          <p:cNvPr id="22" name="fn-icon-3-circle"/>
          <p:cNvSpPr/>
          <p:nvPr/>
        </p:nvSpPr>
        <p:spPr>
          <a:xfrm>
            <a:off x="7936992" y="1737360"/>
            <a:ext cx="822960" cy="822960"/>
          </a:xfrm>
          <a:prstGeom prst="ellipse">
            <a:avLst/>
          </a:prstGeom>
          <a:solidFill>
            <a:schemeClr val="accent1"/>
          </a:solidFill>
          <a:ln w="12700">
            <a:solidFill>
              <a:schemeClr val="accent1"/>
            </a:solidFill>
            <a:prstDash val="solid"/>
          </a:ln>
        </p:spPr>
      </p:sp>
      <p:pic>
        <p:nvPicPr>
          <p:cNvPr id="23" name="fn-icon-3" descr="fn-icon-3">    </p:cNvPr>
          <p:cNvPicPr>
            <a:picLocks noChangeAspect="1"/>
          </p:cNvPicPr>
          <p:nvPr/>
        </p:nvPicPr>
        <p:blipFill>
          <a:blip r:embed="rId4"/>
          <a:stretch>
            <a:fillRect/>
          </a:stretch>
        </p:blipFill>
        <p:spPr>
          <a:xfrm>
            <a:off x="8134502" y="1934870"/>
            <a:ext cx="427939" cy="427939"/>
          </a:xfrm>
          <a:prstGeom prst="rect">
            <a:avLst/>
          </a:prstGeom>
        </p:spPr>
      </p:pic>
      <p:sp>
        <p:nvSpPr>
          <p:cNvPr id="24" name="fn-name-3"/>
          <p:cNvSpPr txBox="1"/>
          <p:nvPr/>
        </p:nvSpPr>
        <p:spPr>
          <a:xfrm>
            <a:off x="7434072" y="2743200"/>
            <a:ext cx="1828800" cy="411480"/>
          </a:xfrm>
          <a:prstGeom prst="rect">
            <a:avLst/>
          </a:prstGeom>
          <a:noFill/>
          <a:ln/>
        </p:spPr>
        <p:txBody>
          <a:bodyPr wrap="square" lIns="0" tIns="0" rIns="0" bIns="0" rtlCol="0" anchor="t"/>
          <a:lstStyle/>
          <a:p>
            <a:pPr algn="ctr" indent="0" marL="0">
              <a:buNone/>
            </a:pPr>
            <a:r>
              <a:rPr lang="en-US" sz="2000" b="1" dirty="0">
                <a:solidFill>
                  <a:schemeClr val="accent1"/>
                </a:solidFill>
                <a:latin typeface="Courier New" pitchFamily="34" charset="0"/>
                <a:ea typeface="Courier New" pitchFamily="34" charset="-122"/>
                <a:cs typeface="Courier New" pitchFamily="34" charset="-120"/>
              </a:rPr>
              <a:t>backup</a:t>
            </a:r>
            <a:endParaRPr lang="en-US" sz="2000" dirty="0"/>
          </a:p>
        </p:txBody>
      </p:sp>
      <p:sp>
        <p:nvSpPr>
          <p:cNvPr id="25" name="fn-h-3"/>
          <p:cNvSpPr txBox="1"/>
          <p:nvPr/>
        </p:nvSpPr>
        <p:spPr>
          <a:xfrm>
            <a:off x="7434072" y="3246120"/>
            <a:ext cx="1828800" cy="777240"/>
          </a:xfrm>
          <a:prstGeom prst="rect">
            <a:avLst/>
          </a:prstGeom>
          <a:noFill/>
          <a:ln/>
        </p:spPr>
        <p:txBody>
          <a:bodyPr wrap="square" lIns="0" tIns="0" rIns="0" bIns="0" rtlCol="0" anchor="t"/>
          <a:lstStyle/>
          <a:p>
            <a:pPr algn="ctr" indent="0" marL="0">
              <a:buNone/>
            </a:pPr>
            <a:r>
              <a:rPr lang="en-US" sz="1600" b="1" dirty="0">
                <a:solidFill>
                  <a:schemeClr val="tx2"/>
                </a:solidFill>
              </a:rPr>
              <a:t>Sao lưu tài sản số</a:t>
            </a:r>
            <a:endParaRPr lang="en-US" sz="1600" dirty="0"/>
          </a:p>
        </p:txBody>
      </p:sp>
      <p:sp>
        <p:nvSpPr>
          <p:cNvPr id="26" name="fn-b-3"/>
          <p:cNvSpPr txBox="1"/>
          <p:nvPr/>
        </p:nvSpPr>
        <p:spPr>
          <a:xfrm>
            <a:off x="7434072" y="4114800"/>
            <a:ext cx="1828800" cy="1097280"/>
          </a:xfrm>
          <a:prstGeom prst="rect">
            <a:avLst/>
          </a:prstGeom>
          <a:noFill/>
          <a:ln/>
        </p:spPr>
        <p:txBody>
          <a:bodyPr wrap="square" lIns="0" tIns="0" rIns="0" bIns="0" rtlCol="0" anchor="t"/>
          <a:lstStyle/>
          <a:p>
            <a:pPr algn="ctr" indent="0" marL="0">
              <a:buNone/>
            </a:pPr>
            <a:r>
              <a:rPr lang="en-US" sz="1500" dirty="0">
                <a:solidFill>
                  <a:srgbClr val="4A5868"/>
                </a:solidFill>
              </a:rPr>
              <a:t>tar · SHA-256 · xoay vòng</a:t>
            </a:r>
            <a:endParaRPr lang="en-US" sz="1500" dirty="0"/>
          </a:p>
        </p:txBody>
      </p:sp>
      <p:sp>
        <p:nvSpPr>
          <p:cNvPr id="27" name="fn-card-4"/>
          <p:cNvSpPr/>
          <p:nvPr/>
        </p:nvSpPr>
        <p:spPr>
          <a:xfrm>
            <a:off x="9546336" y="1463040"/>
            <a:ext cx="2103120" cy="3931920"/>
          </a:xfrm>
          <a:prstGeom prst="roundRect">
            <a:avLst>
              <a:gd name="adj" fmla="val 5217"/>
            </a:avLst>
          </a:prstGeom>
          <a:solidFill>
            <a:schemeClr val="bg2"/>
          </a:solidFill>
          <a:ln w="12700">
            <a:solidFill>
              <a:schemeClr val="bg2"/>
            </a:solidFill>
            <a:prstDash val="solid"/>
          </a:ln>
        </p:spPr>
      </p:sp>
      <p:sp>
        <p:nvSpPr>
          <p:cNvPr id="28" name="fn-icon-4-circle"/>
          <p:cNvSpPr/>
          <p:nvPr/>
        </p:nvSpPr>
        <p:spPr>
          <a:xfrm>
            <a:off x="10186416" y="1737360"/>
            <a:ext cx="822960" cy="822960"/>
          </a:xfrm>
          <a:prstGeom prst="ellipse">
            <a:avLst/>
          </a:prstGeom>
          <a:solidFill>
            <a:schemeClr val="accent1"/>
          </a:solidFill>
          <a:ln w="12700">
            <a:solidFill>
              <a:schemeClr val="accent1"/>
            </a:solidFill>
            <a:prstDash val="solid"/>
          </a:ln>
        </p:spPr>
      </p:sp>
      <p:pic>
        <p:nvPicPr>
          <p:cNvPr id="29" name="fn-icon-4" descr="fn-icon-4">    </p:cNvPr>
          <p:cNvPicPr>
            <a:picLocks noChangeAspect="1"/>
          </p:cNvPicPr>
          <p:nvPr/>
        </p:nvPicPr>
        <p:blipFill>
          <a:blip r:embed="rId5"/>
          <a:stretch>
            <a:fillRect/>
          </a:stretch>
        </p:blipFill>
        <p:spPr>
          <a:xfrm>
            <a:off x="10383926" y="1934870"/>
            <a:ext cx="427939" cy="427939"/>
          </a:xfrm>
          <a:prstGeom prst="rect">
            <a:avLst/>
          </a:prstGeom>
        </p:spPr>
      </p:pic>
      <p:sp>
        <p:nvSpPr>
          <p:cNvPr id="30" name="fn-name-4"/>
          <p:cNvSpPr txBox="1"/>
          <p:nvPr/>
        </p:nvSpPr>
        <p:spPr>
          <a:xfrm>
            <a:off x="9683496" y="2743200"/>
            <a:ext cx="1828800" cy="411480"/>
          </a:xfrm>
          <a:prstGeom prst="rect">
            <a:avLst/>
          </a:prstGeom>
          <a:noFill/>
          <a:ln/>
        </p:spPr>
        <p:txBody>
          <a:bodyPr wrap="square" lIns="0" tIns="0" rIns="0" bIns="0" rtlCol="0" anchor="t"/>
          <a:lstStyle/>
          <a:p>
            <a:pPr algn="ctr" indent="0" marL="0">
              <a:buNone/>
            </a:pPr>
            <a:r>
              <a:rPr lang="en-US" sz="2000" b="1" dirty="0">
                <a:solidFill>
                  <a:schemeClr val="accent1"/>
                </a:solidFill>
                <a:latin typeface="Courier New" pitchFamily="34" charset="0"/>
                <a:ea typeface="Courier New" pitchFamily="34" charset="-122"/>
                <a:cs typeface="Courier New" pitchFamily="34" charset="-120"/>
              </a:rPr>
              <a:t>scheduler</a:t>
            </a:r>
            <a:endParaRPr lang="en-US" sz="2000" dirty="0"/>
          </a:p>
        </p:txBody>
      </p:sp>
      <p:sp>
        <p:nvSpPr>
          <p:cNvPr id="31" name="fn-h-4"/>
          <p:cNvSpPr txBox="1"/>
          <p:nvPr/>
        </p:nvSpPr>
        <p:spPr>
          <a:xfrm>
            <a:off x="9683496" y="3246120"/>
            <a:ext cx="1828800" cy="777240"/>
          </a:xfrm>
          <a:prstGeom prst="rect">
            <a:avLst/>
          </a:prstGeom>
          <a:noFill/>
          <a:ln/>
        </p:spPr>
        <p:txBody>
          <a:bodyPr wrap="square" lIns="0" tIns="0" rIns="0" bIns="0" rtlCol="0" anchor="t"/>
          <a:lstStyle/>
          <a:p>
            <a:pPr algn="ctr" indent="0" marL="0">
              <a:buNone/>
            </a:pPr>
            <a:r>
              <a:rPr lang="en-US" sz="1600" b="1" dirty="0">
                <a:solidFill>
                  <a:schemeClr val="tx2"/>
                </a:solidFill>
              </a:rPr>
              <a:t>Tự động hoá bảo dưỡng</a:t>
            </a:r>
            <a:endParaRPr lang="en-US" sz="1600" dirty="0"/>
          </a:p>
        </p:txBody>
      </p:sp>
      <p:sp>
        <p:nvSpPr>
          <p:cNvPr id="32" name="fn-b-4"/>
          <p:cNvSpPr txBox="1"/>
          <p:nvPr/>
        </p:nvSpPr>
        <p:spPr>
          <a:xfrm>
            <a:off x="9683496" y="4114800"/>
            <a:ext cx="1828800" cy="1097280"/>
          </a:xfrm>
          <a:prstGeom prst="rect">
            <a:avLst/>
          </a:prstGeom>
          <a:noFill/>
          <a:ln/>
        </p:spPr>
        <p:txBody>
          <a:bodyPr wrap="square" lIns="0" tIns="0" rIns="0" bIns="0" rtlCol="0" anchor="t"/>
          <a:lstStyle/>
          <a:p>
            <a:pPr algn="ctr" indent="0" marL="0">
              <a:buNone/>
            </a:pPr>
            <a:r>
              <a:rPr lang="en-US" sz="1500" dirty="0">
                <a:solidFill>
                  <a:srgbClr val="4A5868"/>
                </a:solidFill>
              </a:rPr>
              <a:t>cron · maintenance · at</a:t>
            </a:r>
            <a:endParaRPr lang="en-US" sz="1500" dirty="0"/>
          </a:p>
        </p:txBody>
      </p:sp>
      <p:sp>
        <p:nvSpPr>
          <p:cNvPr id="33" name="fn-stats"/>
          <p:cNvSpPr txBox="1"/>
          <p:nvPr/>
        </p:nvSpPr>
        <p:spPr>
          <a:xfrm>
            <a:off x="548640" y="5623560"/>
            <a:ext cx="11064240" cy="457200"/>
          </a:xfrm>
          <a:prstGeom prst="rect">
            <a:avLst/>
          </a:prstGeom>
          <a:noFill/>
          <a:ln/>
        </p:spPr>
        <p:txBody>
          <a:bodyPr wrap="square" lIns="0" tIns="0" rIns="0" bIns="0" rtlCol="0" anchor="t"/>
          <a:lstStyle/>
          <a:p>
            <a:pPr indent="0" marL="0">
              <a:buNone/>
            </a:pPr>
            <a:r>
              <a:rPr lang="en-US" sz="1700" b="1" dirty="0">
                <a:solidFill>
                  <a:schemeClr val="tx2"/>
                </a:solidFill>
              </a:rPr>
              <a:t>≈ 3.850 dòng Bash · 60 action · </a:t>
            </a:r>
            <a:pPr indent="0" marL="0">
              <a:buNone/>
            </a:pPr>
            <a:r>
              <a:rPr lang="en-US" sz="1700" dirty="0">
                <a:solidFill>
                  <a:schemeClr val="tx1"/>
                </a:solidFill>
              </a:rPr>
              <a:t>cài một lệnh trên Ubuntu, hoặc docker compose up</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FA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Kiến trúc: giao diện chỉ là lớp vỏ của dòng lệnh</a:t>
            </a:r>
            <a:endParaRPr lang="en-US" sz="3200" dirty="0"/>
          </a:p>
        </p:txBody>
      </p:sp>
      <p:sp>
        <p:nvSpPr>
          <p:cNvPr id="3" name="arch-tui"/>
          <p:cNvSpPr/>
          <p:nvPr/>
        </p:nvSpPr>
        <p:spPr>
          <a:xfrm>
            <a:off x="731520" y="1417320"/>
            <a:ext cx="2743200" cy="868680"/>
          </a:xfrm>
          <a:prstGeom prst="roundRect">
            <a:avLst>
              <a:gd name="adj" fmla="val 10526"/>
            </a:avLst>
          </a:prstGeom>
          <a:solidFill>
            <a:schemeClr val="bg2"/>
          </a:solidFill>
          <a:ln w="12700">
            <a:solidFill>
              <a:schemeClr val="bg2"/>
            </a:solidFill>
            <a:prstDash val="solid"/>
          </a:ln>
        </p:spPr>
      </p:sp>
      <p:sp>
        <p:nvSpPr>
          <p:cNvPr id="4" name="arch-tui-text"/>
          <p:cNvSpPr txBox="1"/>
          <p:nvPr/>
        </p:nvSpPr>
        <p:spPr>
          <a:xfrm>
            <a:off x="731520" y="1417320"/>
            <a:ext cx="2743200" cy="868680"/>
          </a:xfrm>
          <a:prstGeom prst="rect">
            <a:avLst/>
          </a:prstGeom>
          <a:noFill/>
          <a:ln/>
        </p:spPr>
        <p:txBody>
          <a:bodyPr wrap="square" lIns="635" tIns="635" rIns="635" bIns="635" rtlCol="0" anchor="ctr"/>
          <a:lstStyle/>
          <a:p>
            <a:pPr algn="ctr" indent="0" marL="0">
              <a:buNone/>
            </a:pPr>
            <a:r>
              <a:rPr lang="en-US" sz="1600" b="1" dirty="0">
                <a:solidFill>
                  <a:schemeClr val="tx2"/>
                </a:solidFill>
              </a:rPr>
              <a:t>Giao diện TUI</a:t>
            </a:r>
            <a:endParaRPr lang="en-US" sz="1600" dirty="0"/>
          </a:p>
          <a:p>
            <a:pPr algn="ctr" indent="0" marL="0">
              <a:buNone/>
            </a:pPr>
            <a:r>
              <a:rPr lang="en-US" sz="1200" dirty="0">
                <a:solidFill>
                  <a:schemeClr val="tx2"/>
                </a:solidFill>
              </a:rPr>
              <a:t>lib/tui.sh · dialog/whiptail</a:t>
            </a:r>
            <a:endParaRPr lang="en-US" sz="1600" dirty="0"/>
          </a:p>
        </p:txBody>
      </p:sp>
      <p:sp>
        <p:nvSpPr>
          <p:cNvPr id="5" name="arch-cli"/>
          <p:cNvSpPr/>
          <p:nvPr/>
        </p:nvSpPr>
        <p:spPr>
          <a:xfrm>
            <a:off x="731520" y="2606040"/>
            <a:ext cx="2743200" cy="868680"/>
          </a:xfrm>
          <a:prstGeom prst="roundRect">
            <a:avLst>
              <a:gd name="adj" fmla="val 10526"/>
            </a:avLst>
          </a:prstGeom>
          <a:solidFill>
            <a:schemeClr val="bg2"/>
          </a:solidFill>
          <a:ln w="12700">
            <a:solidFill>
              <a:schemeClr val="bg2"/>
            </a:solidFill>
            <a:prstDash val="solid"/>
          </a:ln>
        </p:spPr>
      </p:sp>
      <p:sp>
        <p:nvSpPr>
          <p:cNvPr id="6" name="arch-cli-text"/>
          <p:cNvSpPr txBox="1"/>
          <p:nvPr/>
        </p:nvSpPr>
        <p:spPr>
          <a:xfrm>
            <a:off x="731520" y="2606040"/>
            <a:ext cx="2743200" cy="868680"/>
          </a:xfrm>
          <a:prstGeom prst="rect">
            <a:avLst/>
          </a:prstGeom>
          <a:noFill/>
          <a:ln/>
        </p:spPr>
        <p:txBody>
          <a:bodyPr wrap="square" lIns="635" tIns="635" rIns="635" bIns="635" rtlCol="0" anchor="ctr"/>
          <a:lstStyle/>
          <a:p>
            <a:pPr algn="ctr" indent="0" marL="0">
              <a:buNone/>
            </a:pPr>
            <a:r>
              <a:rPr lang="en-US" sz="1600" b="1" dirty="0">
                <a:solidFill>
                  <a:schemeClr val="tx2"/>
                </a:solidFill>
              </a:rPr>
              <a:t>Dòng lệnh CLI</a:t>
            </a:r>
            <a:endParaRPr lang="en-US" sz="1600" dirty="0"/>
          </a:p>
          <a:p>
            <a:pPr algn="ctr" indent="0" marL="0">
              <a:buNone/>
            </a:pPr>
            <a:r>
              <a:rPr lang="en-US" sz="1200" dirty="0">
                <a:solidFill>
                  <a:schemeClr val="tx2"/>
                </a:solidFill>
              </a:rPr>
              <a:t>lib/cli.sh · menu số / lệnh trực tiếp</a:t>
            </a:r>
            <a:endParaRPr lang="en-US" sz="1600" dirty="0"/>
          </a:p>
        </p:txBody>
      </p:sp>
      <p:sp>
        <p:nvSpPr>
          <p:cNvPr id="7" name="arch-entry"/>
          <p:cNvSpPr/>
          <p:nvPr/>
        </p:nvSpPr>
        <p:spPr>
          <a:xfrm>
            <a:off x="4206240" y="1965960"/>
            <a:ext cx="2377440" cy="1005840"/>
          </a:xfrm>
          <a:prstGeom prst="roundRect">
            <a:avLst>
              <a:gd name="adj" fmla="val 9091"/>
            </a:avLst>
          </a:prstGeom>
          <a:solidFill>
            <a:schemeClr val="accent2"/>
          </a:solidFill>
          <a:ln w="12700">
            <a:solidFill>
              <a:schemeClr val="accent2"/>
            </a:solidFill>
            <a:prstDash val="solid"/>
          </a:ln>
        </p:spPr>
      </p:sp>
      <p:sp>
        <p:nvSpPr>
          <p:cNvPr id="8" name="arch-entry-text"/>
          <p:cNvSpPr txBox="1"/>
          <p:nvPr/>
        </p:nvSpPr>
        <p:spPr>
          <a:xfrm>
            <a:off x="4206240" y="1965960"/>
            <a:ext cx="2377440" cy="1005840"/>
          </a:xfrm>
          <a:prstGeom prst="rect">
            <a:avLst/>
          </a:prstGeom>
          <a:noFill/>
          <a:ln/>
        </p:spPr>
        <p:txBody>
          <a:bodyPr wrap="square" lIns="635" tIns="635" rIns="635" bIns="635" rtlCol="0" anchor="ctr"/>
          <a:lstStyle/>
          <a:p>
            <a:pPr algn="ctr" indent="0" marL="0">
              <a:buNone/>
            </a:pPr>
            <a:r>
              <a:rPr lang="en-US" sz="1600" b="1" dirty="0">
                <a:solidFill>
                  <a:schemeClr val="tx1"/>
                </a:solidFill>
              </a:rPr>
              <a:t>sysadmin.sh</a:t>
            </a:r>
            <a:endParaRPr lang="en-US" sz="1600" dirty="0"/>
          </a:p>
          <a:p>
            <a:pPr algn="ctr" indent="0" marL="0">
              <a:buNone/>
            </a:pPr>
            <a:r>
              <a:rPr lang="en-US" sz="1200" dirty="0">
                <a:solidFill>
                  <a:schemeClr val="tx1"/>
                </a:solidFill>
              </a:rPr>
              <a:t>getopts · trap · dispatcher</a:t>
            </a:r>
            <a:endParaRPr lang="en-US" sz="1600" dirty="0"/>
          </a:p>
        </p:txBody>
      </p:sp>
      <p:sp>
        <p:nvSpPr>
          <p:cNvPr id="9" name="arch-common"/>
          <p:cNvSpPr/>
          <p:nvPr/>
        </p:nvSpPr>
        <p:spPr>
          <a:xfrm>
            <a:off x="4206240" y="3429000"/>
            <a:ext cx="2377440" cy="1005840"/>
          </a:xfrm>
          <a:prstGeom prst="roundRect">
            <a:avLst>
              <a:gd name="adj" fmla="val 9091"/>
            </a:avLst>
          </a:prstGeom>
          <a:solidFill>
            <a:schemeClr val="tx2"/>
          </a:solidFill>
          <a:ln w="12700">
            <a:solidFill>
              <a:schemeClr val="tx2"/>
            </a:solidFill>
            <a:prstDash val="solid"/>
          </a:ln>
        </p:spPr>
      </p:sp>
      <p:sp>
        <p:nvSpPr>
          <p:cNvPr id="10" name="arch-common-text"/>
          <p:cNvSpPr txBox="1"/>
          <p:nvPr/>
        </p:nvSpPr>
        <p:spPr>
          <a:xfrm>
            <a:off x="4206240" y="3429000"/>
            <a:ext cx="2377440" cy="1005840"/>
          </a:xfrm>
          <a:prstGeom prst="rect">
            <a:avLst/>
          </a:prstGeom>
          <a:noFill/>
          <a:ln/>
        </p:spPr>
        <p:txBody>
          <a:bodyPr wrap="square" lIns="635" tIns="635" rIns="635" bIns="635" rtlCol="0" anchor="ctr"/>
          <a:lstStyle/>
          <a:p>
            <a:pPr algn="ctr" indent="0" marL="0">
              <a:buNone/>
            </a:pPr>
            <a:r>
              <a:rPr lang="en-US" sz="1600" b="1" dirty="0">
                <a:solidFill>
                  <a:schemeClr val="bg1"/>
                </a:solidFill>
              </a:rPr>
              <a:t>lib/common.sh</a:t>
            </a:r>
            <a:endParaRPr lang="en-US" sz="1600" dirty="0"/>
          </a:p>
          <a:p>
            <a:pPr algn="ctr" indent="0" marL="0">
              <a:buNone/>
            </a:pPr>
            <a:r>
              <a:rPr lang="en-US" sz="1200" dirty="0">
                <a:solidFill>
                  <a:schemeClr val="bg1"/>
                </a:solidFill>
              </a:rPr>
              <a:t>log · dry-run · xác nhận · registry</a:t>
            </a:r>
            <a:endParaRPr lang="en-US" sz="1600" dirty="0"/>
          </a:p>
        </p:txBody>
      </p:sp>
      <p:sp>
        <p:nvSpPr>
          <p:cNvPr id="11" name="arch-mod-0"/>
          <p:cNvSpPr/>
          <p:nvPr/>
        </p:nvSpPr>
        <p:spPr>
          <a:xfrm>
            <a:off x="7315200" y="1371600"/>
            <a:ext cx="1828800" cy="512064"/>
          </a:xfrm>
          <a:prstGeom prst="roundRect">
            <a:avLst>
              <a:gd name="adj" fmla="val 17857"/>
            </a:avLst>
          </a:prstGeom>
          <a:solidFill>
            <a:schemeClr val="accent1"/>
          </a:solidFill>
          <a:ln w="12700">
            <a:solidFill>
              <a:schemeClr val="accent1"/>
            </a:solidFill>
            <a:prstDash val="solid"/>
          </a:ln>
        </p:spPr>
      </p:sp>
      <p:sp>
        <p:nvSpPr>
          <p:cNvPr id="12" name="arch-mod-0-text"/>
          <p:cNvSpPr txBox="1"/>
          <p:nvPr/>
        </p:nvSpPr>
        <p:spPr>
          <a:xfrm>
            <a:off x="7315200" y="1371600"/>
            <a:ext cx="1828800" cy="512064"/>
          </a:xfrm>
          <a:prstGeom prst="rect">
            <a:avLst/>
          </a:prstGeom>
          <a:noFill/>
          <a:ln/>
        </p:spPr>
        <p:txBody>
          <a:bodyPr wrap="square" lIns="635" tIns="635" rIns="635" bIns="635" rtlCol="0" anchor="ctr"/>
          <a:lstStyle/>
          <a:p>
            <a:pPr algn="ctr" indent="0" marL="0">
              <a:buNone/>
            </a:pPr>
            <a:r>
              <a:rPr lang="en-US" sz="1600" b="1" dirty="0">
                <a:solidFill>
                  <a:schemeClr val="bg1"/>
                </a:solidFill>
              </a:rPr>
              <a:t>users</a:t>
            </a:r>
            <a:endParaRPr lang="en-US" sz="1600" dirty="0"/>
          </a:p>
        </p:txBody>
      </p:sp>
      <p:sp>
        <p:nvSpPr>
          <p:cNvPr id="13" name="arch-mod-1"/>
          <p:cNvSpPr/>
          <p:nvPr/>
        </p:nvSpPr>
        <p:spPr>
          <a:xfrm>
            <a:off x="7315200" y="1993392"/>
            <a:ext cx="1828800" cy="512064"/>
          </a:xfrm>
          <a:prstGeom prst="roundRect">
            <a:avLst>
              <a:gd name="adj" fmla="val 17857"/>
            </a:avLst>
          </a:prstGeom>
          <a:solidFill>
            <a:schemeClr val="accent1"/>
          </a:solidFill>
          <a:ln w="12700">
            <a:solidFill>
              <a:schemeClr val="accent1"/>
            </a:solidFill>
            <a:prstDash val="solid"/>
          </a:ln>
        </p:spPr>
      </p:sp>
      <p:sp>
        <p:nvSpPr>
          <p:cNvPr id="14" name="arch-mod-1-text"/>
          <p:cNvSpPr txBox="1"/>
          <p:nvPr/>
        </p:nvSpPr>
        <p:spPr>
          <a:xfrm>
            <a:off x="7315200" y="1993392"/>
            <a:ext cx="1828800" cy="512064"/>
          </a:xfrm>
          <a:prstGeom prst="rect">
            <a:avLst/>
          </a:prstGeom>
          <a:noFill/>
          <a:ln/>
        </p:spPr>
        <p:txBody>
          <a:bodyPr wrap="square" lIns="635" tIns="635" rIns="635" bIns="635" rtlCol="0" anchor="ctr"/>
          <a:lstStyle/>
          <a:p>
            <a:pPr algn="ctr" indent="0" marL="0">
              <a:buNone/>
            </a:pPr>
            <a:r>
              <a:rPr lang="en-US" sz="1600" b="1" dirty="0">
                <a:solidFill>
                  <a:schemeClr val="bg1"/>
                </a:solidFill>
              </a:rPr>
              <a:t>monitor</a:t>
            </a:r>
            <a:endParaRPr lang="en-US" sz="1600" dirty="0"/>
          </a:p>
        </p:txBody>
      </p:sp>
      <p:sp>
        <p:nvSpPr>
          <p:cNvPr id="15" name="arch-mod-2"/>
          <p:cNvSpPr/>
          <p:nvPr/>
        </p:nvSpPr>
        <p:spPr>
          <a:xfrm>
            <a:off x="7315200" y="2615184"/>
            <a:ext cx="1828800" cy="512064"/>
          </a:xfrm>
          <a:prstGeom prst="roundRect">
            <a:avLst>
              <a:gd name="adj" fmla="val 17857"/>
            </a:avLst>
          </a:prstGeom>
          <a:solidFill>
            <a:schemeClr val="accent1"/>
          </a:solidFill>
          <a:ln w="12700">
            <a:solidFill>
              <a:schemeClr val="accent1"/>
            </a:solidFill>
            <a:prstDash val="solid"/>
          </a:ln>
        </p:spPr>
      </p:sp>
      <p:sp>
        <p:nvSpPr>
          <p:cNvPr id="16" name="arch-mod-2-text"/>
          <p:cNvSpPr txBox="1"/>
          <p:nvPr/>
        </p:nvSpPr>
        <p:spPr>
          <a:xfrm>
            <a:off x="7315200" y="2615184"/>
            <a:ext cx="1828800" cy="512064"/>
          </a:xfrm>
          <a:prstGeom prst="rect">
            <a:avLst/>
          </a:prstGeom>
          <a:noFill/>
          <a:ln/>
        </p:spPr>
        <p:txBody>
          <a:bodyPr wrap="square" lIns="635" tIns="635" rIns="635" bIns="635" rtlCol="0" anchor="ctr"/>
          <a:lstStyle/>
          <a:p>
            <a:pPr algn="ctr" indent="0" marL="0">
              <a:buNone/>
            </a:pPr>
            <a:r>
              <a:rPr lang="en-US" sz="1600" b="1" dirty="0">
                <a:solidFill>
                  <a:schemeClr val="bg1"/>
                </a:solidFill>
              </a:rPr>
              <a:t>alert</a:t>
            </a:r>
            <a:endParaRPr lang="en-US" sz="1600" dirty="0"/>
          </a:p>
        </p:txBody>
      </p:sp>
      <p:sp>
        <p:nvSpPr>
          <p:cNvPr id="17" name="arch-mod-3"/>
          <p:cNvSpPr/>
          <p:nvPr/>
        </p:nvSpPr>
        <p:spPr>
          <a:xfrm>
            <a:off x="7315200" y="3236976"/>
            <a:ext cx="1828800" cy="512064"/>
          </a:xfrm>
          <a:prstGeom prst="roundRect">
            <a:avLst>
              <a:gd name="adj" fmla="val 17857"/>
            </a:avLst>
          </a:prstGeom>
          <a:solidFill>
            <a:schemeClr val="accent1"/>
          </a:solidFill>
          <a:ln w="12700">
            <a:solidFill>
              <a:schemeClr val="accent1"/>
            </a:solidFill>
            <a:prstDash val="solid"/>
          </a:ln>
        </p:spPr>
      </p:sp>
      <p:sp>
        <p:nvSpPr>
          <p:cNvPr id="18" name="arch-mod-3-text"/>
          <p:cNvSpPr txBox="1"/>
          <p:nvPr/>
        </p:nvSpPr>
        <p:spPr>
          <a:xfrm>
            <a:off x="7315200" y="3236976"/>
            <a:ext cx="1828800" cy="512064"/>
          </a:xfrm>
          <a:prstGeom prst="rect">
            <a:avLst/>
          </a:prstGeom>
          <a:noFill/>
          <a:ln/>
        </p:spPr>
        <p:txBody>
          <a:bodyPr wrap="square" lIns="635" tIns="635" rIns="635" bIns="635" rtlCol="0" anchor="ctr"/>
          <a:lstStyle/>
          <a:p>
            <a:pPr algn="ctr" indent="0" marL="0">
              <a:buNone/>
            </a:pPr>
            <a:r>
              <a:rPr lang="en-US" sz="1600" b="1" dirty="0">
                <a:solidFill>
                  <a:schemeClr val="bg1"/>
                </a:solidFill>
              </a:rPr>
              <a:t>backup</a:t>
            </a:r>
            <a:endParaRPr lang="en-US" sz="1600" dirty="0"/>
          </a:p>
        </p:txBody>
      </p:sp>
      <p:sp>
        <p:nvSpPr>
          <p:cNvPr id="19" name="arch-mod-4"/>
          <p:cNvSpPr/>
          <p:nvPr/>
        </p:nvSpPr>
        <p:spPr>
          <a:xfrm>
            <a:off x="7315200" y="3858768"/>
            <a:ext cx="1828800" cy="512064"/>
          </a:xfrm>
          <a:prstGeom prst="roundRect">
            <a:avLst>
              <a:gd name="adj" fmla="val 17857"/>
            </a:avLst>
          </a:prstGeom>
          <a:solidFill>
            <a:schemeClr val="accent1"/>
          </a:solidFill>
          <a:ln w="12700">
            <a:solidFill>
              <a:schemeClr val="accent1"/>
            </a:solidFill>
            <a:prstDash val="solid"/>
          </a:ln>
        </p:spPr>
      </p:sp>
      <p:sp>
        <p:nvSpPr>
          <p:cNvPr id="20" name="arch-mod-4-text"/>
          <p:cNvSpPr txBox="1"/>
          <p:nvPr/>
        </p:nvSpPr>
        <p:spPr>
          <a:xfrm>
            <a:off x="7315200" y="3858768"/>
            <a:ext cx="1828800" cy="512064"/>
          </a:xfrm>
          <a:prstGeom prst="rect">
            <a:avLst/>
          </a:prstGeom>
          <a:noFill/>
          <a:ln/>
        </p:spPr>
        <p:txBody>
          <a:bodyPr wrap="square" lIns="635" tIns="635" rIns="635" bIns="635" rtlCol="0" anchor="ctr"/>
          <a:lstStyle/>
          <a:p>
            <a:pPr algn="ctr" indent="0" marL="0">
              <a:buNone/>
            </a:pPr>
            <a:r>
              <a:rPr lang="en-US" sz="1600" b="1" dirty="0">
                <a:solidFill>
                  <a:schemeClr val="bg1"/>
                </a:solidFill>
              </a:rPr>
              <a:t>scheduler</a:t>
            </a:r>
            <a:endParaRPr lang="en-US" sz="1600" dirty="0"/>
          </a:p>
        </p:txBody>
      </p:sp>
      <p:sp>
        <p:nvSpPr>
          <p:cNvPr id="21" name="arch-os"/>
          <p:cNvSpPr/>
          <p:nvPr/>
        </p:nvSpPr>
        <p:spPr>
          <a:xfrm>
            <a:off x="9646920" y="1417320"/>
            <a:ext cx="2011680" cy="1097280"/>
          </a:xfrm>
          <a:prstGeom prst="roundRect">
            <a:avLst>
              <a:gd name="adj" fmla="val 8333"/>
            </a:avLst>
          </a:prstGeom>
          <a:solidFill>
            <a:schemeClr val="bg2"/>
          </a:solidFill>
          <a:ln w="12700">
            <a:solidFill>
              <a:schemeClr val="bg2"/>
            </a:solidFill>
            <a:prstDash val="solid"/>
          </a:ln>
        </p:spPr>
      </p:sp>
      <p:sp>
        <p:nvSpPr>
          <p:cNvPr id="22" name="arch-os-text"/>
          <p:cNvSpPr txBox="1"/>
          <p:nvPr/>
        </p:nvSpPr>
        <p:spPr>
          <a:xfrm>
            <a:off x="9646920" y="1417320"/>
            <a:ext cx="2011680" cy="1097280"/>
          </a:xfrm>
          <a:prstGeom prst="rect">
            <a:avLst/>
          </a:prstGeom>
          <a:noFill/>
          <a:ln/>
        </p:spPr>
        <p:txBody>
          <a:bodyPr wrap="square" lIns="635" tIns="635" rIns="635" bIns="635" rtlCol="0" anchor="ctr"/>
          <a:lstStyle/>
          <a:p>
            <a:pPr algn="ctr" indent="0" marL="0">
              <a:buNone/>
            </a:pPr>
            <a:r>
              <a:rPr lang="en-US" sz="1600" b="1" dirty="0">
                <a:solidFill>
                  <a:schemeClr val="tx2"/>
                </a:solidFill>
              </a:rPr>
              <a:t>Hệ điều hành</a:t>
            </a:r>
            <a:endParaRPr lang="en-US" sz="1600" dirty="0"/>
          </a:p>
          <a:p>
            <a:pPr algn="ctr" indent="0" marL="0">
              <a:buNone/>
            </a:pPr>
            <a:r>
              <a:rPr lang="en-US" sz="1200" dirty="0">
                <a:solidFill>
                  <a:schemeClr val="tx2"/>
                </a:solidFill>
              </a:rPr>
              <a:t>useradd · ps · tar · crontab</a:t>
            </a:r>
            <a:endParaRPr lang="en-US" sz="1600" dirty="0"/>
          </a:p>
        </p:txBody>
      </p:sp>
      <p:sp>
        <p:nvSpPr>
          <p:cNvPr id="23" name="arch-out"/>
          <p:cNvSpPr/>
          <p:nvPr/>
        </p:nvSpPr>
        <p:spPr>
          <a:xfrm>
            <a:off x="9646920" y="2834640"/>
            <a:ext cx="2011680" cy="1097280"/>
          </a:xfrm>
          <a:prstGeom prst="roundRect">
            <a:avLst>
              <a:gd name="adj" fmla="val 8333"/>
            </a:avLst>
          </a:prstGeom>
          <a:solidFill>
            <a:schemeClr val="bg2"/>
          </a:solidFill>
          <a:ln w="12700">
            <a:solidFill>
              <a:schemeClr val="bg2"/>
            </a:solidFill>
            <a:prstDash val="solid"/>
          </a:ln>
        </p:spPr>
      </p:sp>
      <p:sp>
        <p:nvSpPr>
          <p:cNvPr id="24" name="arch-out-text"/>
          <p:cNvSpPr txBox="1"/>
          <p:nvPr/>
        </p:nvSpPr>
        <p:spPr>
          <a:xfrm>
            <a:off x="9646920" y="2834640"/>
            <a:ext cx="2011680" cy="1097280"/>
          </a:xfrm>
          <a:prstGeom prst="rect">
            <a:avLst/>
          </a:prstGeom>
          <a:noFill/>
          <a:ln/>
        </p:spPr>
        <p:txBody>
          <a:bodyPr wrap="square" lIns="635" tIns="635" rIns="635" bIns="635" rtlCol="0" anchor="ctr"/>
          <a:lstStyle/>
          <a:p>
            <a:pPr algn="ctr" indent="0" marL="0">
              <a:buNone/>
            </a:pPr>
            <a:r>
              <a:rPr lang="en-US" sz="1600" b="1" dirty="0">
                <a:solidFill>
                  <a:schemeClr val="tx2"/>
                </a:solidFill>
              </a:rPr>
              <a:t>Đầu ra</a:t>
            </a:r>
            <a:endParaRPr lang="en-US" sz="1600" dirty="0"/>
          </a:p>
          <a:p>
            <a:pPr algn="ctr" indent="0" marL="0">
              <a:buNone/>
            </a:pPr>
            <a:r>
              <a:rPr lang="en-US" sz="1200" dirty="0">
                <a:solidFill>
                  <a:schemeClr val="tx2"/>
                </a:solidFill>
              </a:rPr>
              <a:t>logs · reports · email · Telegram</a:t>
            </a:r>
            <a:endParaRPr lang="en-US" sz="1600" dirty="0"/>
          </a:p>
        </p:txBody>
      </p:sp>
      <p:sp>
        <p:nvSpPr>
          <p:cNvPr id="25" name="arch-a1"/>
          <p:cNvSpPr/>
          <p:nvPr/>
        </p:nvSpPr>
        <p:spPr>
          <a:xfrm>
            <a:off x="3474720" y="1856232"/>
            <a:ext cx="731520" cy="475488"/>
          </a:xfrm>
          <a:prstGeom prst="line">
            <a:avLst/>
          </a:prstGeom>
          <a:noFill/>
          <a:ln w="25400">
            <a:solidFill>
              <a:srgbClr val="0F7C80"/>
            </a:solidFill>
            <a:prstDash val="solid"/>
            <a:tailEnd type="triangle"/>
          </a:ln>
        </p:spPr>
      </p:sp>
      <p:sp>
        <p:nvSpPr>
          <p:cNvPr id="26" name="arch-a2"/>
          <p:cNvSpPr/>
          <p:nvPr/>
        </p:nvSpPr>
        <p:spPr>
          <a:xfrm>
            <a:off x="3474720" y="3044952"/>
            <a:ext cx="731520" cy="-438912"/>
          </a:xfrm>
          <a:prstGeom prst="line">
            <a:avLst/>
          </a:prstGeom>
          <a:noFill/>
          <a:ln w="25400">
            <a:solidFill>
              <a:srgbClr val="0F7C80"/>
            </a:solidFill>
            <a:prstDash val="solid"/>
            <a:tailEnd type="triangle"/>
          </a:ln>
        </p:spPr>
      </p:sp>
      <p:sp>
        <p:nvSpPr>
          <p:cNvPr id="27" name="arch-a3"/>
          <p:cNvSpPr/>
          <p:nvPr/>
        </p:nvSpPr>
        <p:spPr>
          <a:xfrm>
            <a:off x="5394960" y="2971800"/>
            <a:ext cx="0" cy="457200"/>
          </a:xfrm>
          <a:prstGeom prst="line">
            <a:avLst/>
          </a:prstGeom>
          <a:noFill/>
          <a:ln w="25400">
            <a:solidFill>
              <a:srgbClr val="0F7C80"/>
            </a:solidFill>
            <a:prstDash val="solid"/>
            <a:tailEnd type="triangle"/>
          </a:ln>
        </p:spPr>
      </p:sp>
      <p:sp>
        <p:nvSpPr>
          <p:cNvPr id="28" name="arch-a4"/>
          <p:cNvSpPr/>
          <p:nvPr/>
        </p:nvSpPr>
        <p:spPr>
          <a:xfrm>
            <a:off x="6583680" y="2468880"/>
            <a:ext cx="731520" cy="0"/>
          </a:xfrm>
          <a:prstGeom prst="line">
            <a:avLst/>
          </a:prstGeom>
          <a:noFill/>
          <a:ln w="25400">
            <a:solidFill>
              <a:srgbClr val="0F7C80"/>
            </a:solidFill>
            <a:prstDash val="solid"/>
            <a:tailEnd type="triangle"/>
          </a:ln>
        </p:spPr>
      </p:sp>
      <p:sp>
        <p:nvSpPr>
          <p:cNvPr id="29" name="arch-a5"/>
          <p:cNvSpPr/>
          <p:nvPr/>
        </p:nvSpPr>
        <p:spPr>
          <a:xfrm>
            <a:off x="9144000" y="1965960"/>
            <a:ext cx="502920" cy="0"/>
          </a:xfrm>
          <a:prstGeom prst="line">
            <a:avLst/>
          </a:prstGeom>
          <a:noFill/>
          <a:ln w="25400">
            <a:solidFill>
              <a:srgbClr val="0F7C80"/>
            </a:solidFill>
            <a:prstDash val="solid"/>
            <a:tailEnd type="triangle"/>
          </a:ln>
        </p:spPr>
      </p:sp>
      <p:sp>
        <p:nvSpPr>
          <p:cNvPr id="30" name="arch-a6"/>
          <p:cNvSpPr/>
          <p:nvPr/>
        </p:nvSpPr>
        <p:spPr>
          <a:xfrm>
            <a:off x="9144000" y="3383280"/>
            <a:ext cx="502920" cy="0"/>
          </a:xfrm>
          <a:prstGeom prst="line">
            <a:avLst/>
          </a:prstGeom>
          <a:noFill/>
          <a:ln w="25400">
            <a:solidFill>
              <a:srgbClr val="0F7C80"/>
            </a:solidFill>
            <a:prstDash val="solid"/>
            <a:tailEnd type="triangle"/>
          </a:ln>
        </p:spPr>
      </p:sp>
      <p:sp>
        <p:nvSpPr>
          <p:cNvPr id="31" name="arch-note-card"/>
          <p:cNvSpPr/>
          <p:nvPr/>
        </p:nvSpPr>
        <p:spPr>
          <a:xfrm>
            <a:off x="731520" y="4800600"/>
            <a:ext cx="10927080" cy="1234440"/>
          </a:xfrm>
          <a:prstGeom prst="roundRect">
            <a:avLst>
              <a:gd name="adj" fmla="val 8889"/>
            </a:avLst>
          </a:prstGeom>
          <a:solidFill>
            <a:schemeClr val="bg2"/>
          </a:solidFill>
          <a:ln w="12700">
            <a:solidFill>
              <a:schemeClr val="bg2"/>
            </a:solidFill>
            <a:prstDash val="solid"/>
          </a:ln>
        </p:spPr>
      </p:sp>
      <p:sp>
        <p:nvSpPr>
          <p:cNvPr id="32" name="arch-note"/>
          <p:cNvSpPr txBox="1"/>
          <p:nvPr/>
        </p:nvSpPr>
        <p:spPr>
          <a:xfrm>
            <a:off x="1005840" y="4983480"/>
            <a:ext cx="10424160" cy="914400"/>
          </a:xfrm>
          <a:prstGeom prst="rect">
            <a:avLst/>
          </a:prstGeom>
          <a:noFill/>
          <a:ln/>
        </p:spPr>
        <p:txBody>
          <a:bodyPr wrap="square" lIns="0" tIns="0" rIns="0" bIns="0" rtlCol="0" anchor="ctr"/>
          <a:lstStyle/>
          <a:p>
            <a:pPr indent="0" marL="0">
              <a:buNone/>
            </a:pPr>
            <a:r>
              <a:rPr lang="en-US" sz="1600" dirty="0">
                <a:solidFill>
                  <a:schemeClr val="tx1"/>
                </a:solidFill>
              </a:rPr>
              <a:t>Chọn trên menu → toolkit chạy đúng lệnh CLI tương ứng, ví dụ </a:t>
            </a:r>
            <a:pPr indent="0" marL="0">
              <a:buNone/>
            </a:pPr>
            <a:r>
              <a:rPr lang="en-US" sz="1600" b="1" dirty="0">
                <a:solidFill>
                  <a:schemeClr val="accent1"/>
                </a:solidFill>
                <a:latin typeface="Courier New" pitchFamily="34" charset="0"/>
                <a:ea typeface="Courier New" pitchFamily="34" charset="-122"/>
                <a:cs typeface="Courier New" pitchFamily="34" charset="-120"/>
              </a:rPr>
              <a:t>sudo sysadmin monitor hogs 90 30</a:t>
            </a:r>
            <a:pPr indent="0" marL="0">
              <a:buNone/>
            </a:pPr>
            <a:r>
              <a:rPr lang="en-US" sz="1600" dirty="0">
                <a:solidFill>
                  <a:schemeClr val="tx1"/>
                </a:solidFill>
              </a:rPr>
              <a:t> — hai chế độ luôn cho cùng kết quả; module chỉ cần khai báo register_action là có ngay help, menu CLI và menu TUI.</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FA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Hai chế độ, chuyển qua lại bất cứ lúc nào</a:t>
            </a:r>
            <a:endParaRPr lang="en-US" sz="3200" dirty="0"/>
          </a:p>
        </p:txBody>
      </p:sp>
      <p:pic>
        <p:nvPicPr>
          <p:cNvPr id="3" name="tui-screenshot" descr="tui-screenshot">    </p:cNvPr>
          <p:cNvPicPr>
            <a:picLocks noChangeAspect="1"/>
          </p:cNvPicPr>
          <p:nvPr/>
        </p:nvPicPr>
        <p:blipFill>
          <a:blip r:embed="rId1"/>
          <a:stretch>
            <a:fillRect/>
          </a:stretch>
        </p:blipFill>
        <p:spPr>
          <a:xfrm>
            <a:off x="548640" y="1325880"/>
            <a:ext cx="6766560" cy="4055598"/>
          </a:xfrm>
          <a:prstGeom prst="rect">
            <a:avLst/>
          </a:prstGeom>
        </p:spPr>
      </p:pic>
      <p:sp>
        <p:nvSpPr>
          <p:cNvPr id="4" name="mode-h-0"/>
          <p:cNvSpPr txBox="1"/>
          <p:nvPr/>
        </p:nvSpPr>
        <p:spPr>
          <a:xfrm>
            <a:off x="7680960" y="1417320"/>
            <a:ext cx="3931920" cy="411480"/>
          </a:xfrm>
          <a:prstGeom prst="rect">
            <a:avLst/>
          </a:prstGeom>
          <a:noFill/>
          <a:ln/>
        </p:spPr>
        <p:txBody>
          <a:bodyPr wrap="square" lIns="0" tIns="0" rIns="0" bIns="0" rtlCol="0" anchor="t"/>
          <a:lstStyle/>
          <a:p>
            <a:pPr indent="0" marL="0">
              <a:buNone/>
            </a:pPr>
            <a:r>
              <a:rPr lang="en-US" sz="1900" b="1" dirty="0">
                <a:solidFill>
                  <a:schemeClr val="accent1"/>
                </a:solidFill>
              </a:rPr>
              <a:t>Giao diện (TUI)</a:t>
            </a:r>
            <a:endParaRPr lang="en-US" sz="1900" dirty="0"/>
          </a:p>
        </p:txBody>
      </p:sp>
      <p:sp>
        <p:nvSpPr>
          <p:cNvPr id="5" name="mode-b-0"/>
          <p:cNvSpPr txBox="1"/>
          <p:nvPr/>
        </p:nvSpPr>
        <p:spPr>
          <a:xfrm>
            <a:off x="7680960" y="1828800"/>
            <a:ext cx="3931920" cy="960120"/>
          </a:xfrm>
          <a:prstGeom prst="rect">
            <a:avLst/>
          </a:prstGeom>
          <a:noFill/>
          <a:ln/>
        </p:spPr>
        <p:txBody>
          <a:bodyPr wrap="square" lIns="0" tIns="0" rIns="0" bIns="0" rtlCol="0" anchor="t"/>
          <a:lstStyle/>
          <a:p>
            <a:pPr indent="0" marL="0">
              <a:buNone/>
            </a:pPr>
            <a:r>
              <a:rPr lang="en-US" sz="1500" dirty="0">
                <a:solidFill>
                  <a:schemeClr val="tx1"/>
                </a:solidFill>
              </a:rPr>
              <a:t>sudo sysadmin --tui — phím mũi tên, hỏi tham số bằng hộp thoại, chọn Chạy thật / Chạy thử</a:t>
            </a:r>
            <a:endParaRPr lang="en-US" sz="1500" dirty="0"/>
          </a:p>
        </p:txBody>
      </p:sp>
      <p:sp>
        <p:nvSpPr>
          <p:cNvPr id="6" name="mode-h-1"/>
          <p:cNvSpPr txBox="1"/>
          <p:nvPr/>
        </p:nvSpPr>
        <p:spPr>
          <a:xfrm>
            <a:off x="7680960" y="2880360"/>
            <a:ext cx="3931920" cy="411480"/>
          </a:xfrm>
          <a:prstGeom prst="rect">
            <a:avLst/>
          </a:prstGeom>
          <a:noFill/>
          <a:ln/>
        </p:spPr>
        <p:txBody>
          <a:bodyPr wrap="square" lIns="0" tIns="0" rIns="0" bIns="0" rtlCol="0" anchor="t"/>
          <a:lstStyle/>
          <a:p>
            <a:pPr indent="0" marL="0">
              <a:buNone/>
            </a:pPr>
            <a:r>
              <a:rPr lang="en-US" sz="1900" b="1" dirty="0">
                <a:solidFill>
                  <a:schemeClr val="accent1"/>
                </a:solidFill>
              </a:rPr>
              <a:t>Dòng lệnh (CLI)</a:t>
            </a:r>
            <a:endParaRPr lang="en-US" sz="1900" dirty="0"/>
          </a:p>
        </p:txBody>
      </p:sp>
      <p:sp>
        <p:nvSpPr>
          <p:cNvPr id="7" name="mode-b-1"/>
          <p:cNvSpPr txBox="1"/>
          <p:nvPr/>
        </p:nvSpPr>
        <p:spPr>
          <a:xfrm>
            <a:off x="7680960" y="3291840"/>
            <a:ext cx="3931920" cy="960120"/>
          </a:xfrm>
          <a:prstGeom prst="rect">
            <a:avLst/>
          </a:prstGeom>
          <a:noFill/>
          <a:ln/>
        </p:spPr>
        <p:txBody>
          <a:bodyPr wrap="square" lIns="0" tIns="0" rIns="0" bIns="0" rtlCol="0" anchor="t"/>
          <a:lstStyle/>
          <a:p>
            <a:pPr indent="0" marL="0">
              <a:buNone/>
            </a:pPr>
            <a:r>
              <a:rPr lang="en-US" sz="1500" dirty="0">
                <a:solidFill>
                  <a:schemeClr val="tx1"/>
                </a:solidFill>
              </a:rPr>
              <a:t>sysadmin --cli hoặc sysadmin &lt;chức năng&gt; &lt;action&gt; — nhanh, viết được script, chạy từ cron</a:t>
            </a:r>
            <a:endParaRPr lang="en-US" sz="1500" dirty="0"/>
          </a:p>
        </p:txBody>
      </p:sp>
      <p:sp>
        <p:nvSpPr>
          <p:cNvPr id="8" name="mode-h-2"/>
          <p:cNvSpPr txBox="1"/>
          <p:nvPr/>
        </p:nvSpPr>
        <p:spPr>
          <a:xfrm>
            <a:off x="7680960" y="4343400"/>
            <a:ext cx="3931920" cy="411480"/>
          </a:xfrm>
          <a:prstGeom prst="rect">
            <a:avLst/>
          </a:prstGeom>
          <a:noFill/>
          <a:ln/>
        </p:spPr>
        <p:txBody>
          <a:bodyPr wrap="square" lIns="0" tIns="0" rIns="0" bIns="0" rtlCol="0" anchor="t"/>
          <a:lstStyle/>
          <a:p>
            <a:pPr indent="0" marL="0">
              <a:buNone/>
            </a:pPr>
            <a:r>
              <a:rPr lang="en-US" sz="1900" b="1" dirty="0">
                <a:solidFill>
                  <a:schemeClr val="accent1"/>
                </a:solidFill>
              </a:rPr>
              <a:t>Chuyển đổi</a:t>
            </a:r>
            <a:endParaRPr lang="en-US" sz="1900" dirty="0"/>
          </a:p>
        </p:txBody>
      </p:sp>
      <p:sp>
        <p:nvSpPr>
          <p:cNvPr id="9" name="mode-b-2"/>
          <p:cNvSpPr txBox="1"/>
          <p:nvPr/>
        </p:nvSpPr>
        <p:spPr>
          <a:xfrm>
            <a:off x="7680960" y="4754880"/>
            <a:ext cx="3931920" cy="960120"/>
          </a:xfrm>
          <a:prstGeom prst="rect">
            <a:avLst/>
          </a:prstGeom>
          <a:noFill/>
          <a:ln/>
        </p:spPr>
        <p:txBody>
          <a:bodyPr wrap="square" lIns="0" tIns="0" rIns="0" bIns="0" rtlCol="0" anchor="t"/>
          <a:lstStyle/>
          <a:p>
            <a:pPr indent="0" marL="0">
              <a:buNone/>
            </a:pPr>
            <a:r>
              <a:rPr lang="en-US" sz="1500" dirty="0">
                <a:solidFill>
                  <a:schemeClr val="tx1"/>
                </a:solidFill>
              </a:rPr>
              <a:t>TUI: mục "Chuyển sang CLI" · CLI: phím t · sysadmin mode tui|cli để ghi nhớ</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FA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1 · users — nhân viên &amp; phân quyền theo phòng ban</a:t>
            </a:r>
            <a:endParaRPr lang="en-US" sz="3200" dirty="0"/>
          </a:p>
        </p:txBody>
      </p:sp>
      <p:pic>
        <p:nvPicPr>
          <p:cNvPr id="3" name="shot-users-demo.png" descr="shot-users-demo.png">    </p:cNvPr>
          <p:cNvPicPr>
            <a:picLocks noChangeAspect="1"/>
          </p:cNvPicPr>
          <p:nvPr/>
        </p:nvPicPr>
        <p:blipFill>
          <a:blip r:embed="rId1"/>
          <a:stretch>
            <a:fillRect/>
          </a:stretch>
        </p:blipFill>
        <p:spPr>
          <a:xfrm>
            <a:off x="548640" y="1280160"/>
            <a:ext cx="6949440" cy="2711977"/>
          </a:xfrm>
          <a:prstGeom prst="rect">
            <a:avLst/>
          </a:prstGeom>
        </p:spPr>
      </p:pic>
      <p:sp>
        <p:nvSpPr>
          <p:cNvPr id="4" name="pt-h-0"/>
          <p:cNvSpPr txBox="1"/>
          <p:nvPr/>
        </p:nvSpPr>
        <p:spPr>
          <a:xfrm>
            <a:off x="548640" y="4312177"/>
            <a:ext cx="3413760" cy="365760"/>
          </a:xfrm>
          <a:prstGeom prst="rect">
            <a:avLst/>
          </a:prstGeom>
          <a:noFill/>
          <a:ln/>
        </p:spPr>
        <p:txBody>
          <a:bodyPr wrap="square" lIns="0" tIns="0" rIns="0" bIns="0" rtlCol="0" anchor="t"/>
          <a:lstStyle/>
          <a:p>
            <a:pPr indent="0" marL="0">
              <a:buNone/>
            </a:pPr>
            <a:r>
              <a:rPr lang="en-US" sz="1700" b="1" dirty="0">
                <a:solidFill>
                  <a:schemeClr val="accent1"/>
                </a:solidFill>
              </a:rPr>
              <a:t>Vào làm</a:t>
            </a:r>
            <a:endParaRPr lang="en-US" sz="1700" dirty="0"/>
          </a:p>
        </p:txBody>
      </p:sp>
      <p:sp>
        <p:nvSpPr>
          <p:cNvPr id="5" name="pt-b-0"/>
          <p:cNvSpPr txBox="1"/>
          <p:nvPr/>
        </p:nvSpPr>
        <p:spPr>
          <a:xfrm>
            <a:off x="548640" y="4723657"/>
            <a:ext cx="3413760" cy="1448543"/>
          </a:xfrm>
          <a:prstGeom prst="rect">
            <a:avLst/>
          </a:prstGeom>
          <a:noFill/>
          <a:ln/>
        </p:spPr>
        <p:txBody>
          <a:bodyPr wrap="square" lIns="0" tIns="0" rIns="0" bIns="0" rtlCol="0" anchor="t"/>
          <a:lstStyle/>
          <a:p>
            <a:pPr indent="0" marL="0">
              <a:buNone/>
            </a:pPr>
            <a:r>
              <a:rPr lang="en-US" sz="1700" dirty="0">
                <a:solidFill>
                  <a:schemeClr val="tx1"/>
                </a:solidFill>
              </a:rPr>
              <a:t>users create đọc users.csv: tạo 7 TK, nhóm dev/data/qa, mật khẩu ngẫu nhiên, ép đổi khi đăng nhập</a:t>
            </a:r>
            <a:endParaRPr lang="en-US" sz="1700" dirty="0"/>
          </a:p>
        </p:txBody>
      </p:sp>
      <p:sp>
        <p:nvSpPr>
          <p:cNvPr id="6" name="pt-h-1"/>
          <p:cNvSpPr txBox="1"/>
          <p:nvPr/>
        </p:nvSpPr>
        <p:spPr>
          <a:xfrm>
            <a:off x="4236720" y="4312177"/>
            <a:ext cx="3413760" cy="365760"/>
          </a:xfrm>
          <a:prstGeom prst="rect">
            <a:avLst/>
          </a:prstGeom>
          <a:noFill/>
          <a:ln/>
        </p:spPr>
        <p:txBody>
          <a:bodyPr wrap="square" lIns="0" tIns="0" rIns="0" bIns="0" rtlCol="0" anchor="t"/>
          <a:lstStyle/>
          <a:p>
            <a:pPr indent="0" marL="0">
              <a:buNone/>
            </a:pPr>
            <a:r>
              <a:rPr lang="en-US" sz="1700" b="1" dirty="0">
                <a:solidFill>
                  <a:schemeClr val="accent1"/>
                </a:solidFill>
              </a:rPr>
              <a:t>Phân quyền</a:t>
            </a:r>
            <a:endParaRPr lang="en-US" sz="1700" dirty="0"/>
          </a:p>
        </p:txBody>
      </p:sp>
      <p:sp>
        <p:nvSpPr>
          <p:cNvPr id="7" name="pt-b-1"/>
          <p:cNvSpPr txBox="1"/>
          <p:nvPr/>
        </p:nvSpPr>
        <p:spPr>
          <a:xfrm>
            <a:off x="4236720" y="4723657"/>
            <a:ext cx="3413760" cy="1448543"/>
          </a:xfrm>
          <a:prstGeom prst="rect">
            <a:avLst/>
          </a:prstGeom>
          <a:noFill/>
          <a:ln/>
        </p:spPr>
        <p:txBody>
          <a:bodyPr wrap="square" lIns="0" tIns="0" rIns="0" bIns="0" rtlCol="0" anchor="t"/>
          <a:lstStyle/>
          <a:p>
            <a:pPr indent="0" marL="0">
              <a:buNone/>
            </a:pPr>
            <a:r>
              <a:rPr lang="en-US" sz="1700" dirty="0">
                <a:solidFill>
                  <a:schemeClr val="tx1"/>
                </a:solidFill>
              </a:rPr>
              <a:t>/srv/technova/{dev,data,qa} 2770 + SGID; chung/ 1777 + sticky — tự kiểm chứng bằng runuser</a:t>
            </a:r>
            <a:endParaRPr lang="en-US" sz="1700" dirty="0"/>
          </a:p>
        </p:txBody>
      </p:sp>
      <p:sp>
        <p:nvSpPr>
          <p:cNvPr id="8" name="pt-h-2"/>
          <p:cNvSpPr txBox="1"/>
          <p:nvPr/>
        </p:nvSpPr>
        <p:spPr>
          <a:xfrm>
            <a:off x="7924800" y="4312177"/>
            <a:ext cx="3413760" cy="365760"/>
          </a:xfrm>
          <a:prstGeom prst="rect">
            <a:avLst/>
          </a:prstGeom>
          <a:noFill/>
          <a:ln/>
        </p:spPr>
        <p:txBody>
          <a:bodyPr wrap="square" lIns="0" tIns="0" rIns="0" bIns="0" rtlCol="0" anchor="t"/>
          <a:lstStyle/>
          <a:p>
            <a:pPr indent="0" marL="0">
              <a:buNone/>
            </a:pPr>
            <a:r>
              <a:rPr lang="en-US" sz="1700" b="1" dirty="0">
                <a:solidFill>
                  <a:schemeClr val="accent1"/>
                </a:solidFill>
              </a:rPr>
              <a:t>Nghỉ việc</a:t>
            </a:r>
            <a:endParaRPr lang="en-US" sz="1700" dirty="0"/>
          </a:p>
        </p:txBody>
      </p:sp>
      <p:sp>
        <p:nvSpPr>
          <p:cNvPr id="9" name="pt-b-2"/>
          <p:cNvSpPr txBox="1"/>
          <p:nvPr/>
        </p:nvSpPr>
        <p:spPr>
          <a:xfrm>
            <a:off x="7924800" y="4723657"/>
            <a:ext cx="3413760" cy="1448543"/>
          </a:xfrm>
          <a:prstGeom prst="rect">
            <a:avLst/>
          </a:prstGeom>
          <a:noFill/>
          <a:ln/>
        </p:spPr>
        <p:txBody>
          <a:bodyPr wrap="square" lIns="0" tIns="0" rIns="0" bIns="0" rtlCol="0" anchor="t"/>
          <a:lstStyle/>
          <a:p>
            <a:pPr indent="0" marL="0">
              <a:buNone/>
            </a:pPr>
            <a:r>
              <a:rPr lang="en-US" sz="1700" dirty="0">
                <a:solidFill>
                  <a:schemeClr val="tx1"/>
                </a:solidFill>
              </a:rPr>
              <a:t>users offboard: khoá TK (cả SSH key), ngắt phiên, thu sudo, xoá crontab, lưu trữ home</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FA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2 · monitor — ai đang làm gì, ai treo process</a:t>
            </a:r>
            <a:endParaRPr lang="en-US" sz="3200" dirty="0"/>
          </a:p>
        </p:txBody>
      </p:sp>
      <p:pic>
        <p:nvPicPr>
          <p:cNvPr id="3" name="shot-monitor-hogs.png" descr="shot-monitor-hogs.png">    </p:cNvPr>
          <p:cNvPicPr>
            <a:picLocks noChangeAspect="1"/>
          </p:cNvPicPr>
          <p:nvPr/>
        </p:nvPicPr>
        <p:blipFill>
          <a:blip r:embed="rId1"/>
          <a:stretch>
            <a:fillRect/>
          </a:stretch>
        </p:blipFill>
        <p:spPr>
          <a:xfrm>
            <a:off x="548640" y="1280160"/>
            <a:ext cx="7863840" cy="3166446"/>
          </a:xfrm>
          <a:prstGeom prst="rect">
            <a:avLst/>
          </a:prstGeom>
        </p:spPr>
      </p:pic>
      <p:sp>
        <p:nvSpPr>
          <p:cNvPr id="4" name="pt-h-0"/>
          <p:cNvSpPr txBox="1"/>
          <p:nvPr/>
        </p:nvSpPr>
        <p:spPr>
          <a:xfrm>
            <a:off x="548640" y="4766646"/>
            <a:ext cx="3413760" cy="365760"/>
          </a:xfrm>
          <a:prstGeom prst="rect">
            <a:avLst/>
          </a:prstGeom>
          <a:noFill/>
          <a:ln/>
        </p:spPr>
        <p:txBody>
          <a:bodyPr wrap="square" lIns="0" tIns="0" rIns="0" bIns="0" rtlCol="0" anchor="t"/>
          <a:lstStyle/>
          <a:p>
            <a:pPr indent="0" marL="0">
              <a:buNone/>
            </a:pPr>
            <a:r>
              <a:rPr lang="en-US" sz="1700" b="1" dirty="0">
                <a:solidFill>
                  <a:schemeClr val="accent1"/>
                </a:solidFill>
              </a:rPr>
              <a:t>who · usage</a:t>
            </a:r>
            <a:endParaRPr lang="en-US" sz="1700" dirty="0"/>
          </a:p>
        </p:txBody>
      </p:sp>
      <p:sp>
        <p:nvSpPr>
          <p:cNvPr id="5" name="pt-b-0"/>
          <p:cNvSpPr txBox="1"/>
          <p:nvPr/>
        </p:nvSpPr>
        <p:spPr>
          <a:xfrm>
            <a:off x="548640" y="5178126"/>
            <a:ext cx="3413760" cy="994074"/>
          </a:xfrm>
          <a:prstGeom prst="rect">
            <a:avLst/>
          </a:prstGeom>
          <a:noFill/>
          <a:ln/>
        </p:spPr>
        <p:txBody>
          <a:bodyPr wrap="square" lIns="0" tIns="0" rIns="0" bIns="0" rtlCol="0" anchor="t"/>
          <a:lstStyle/>
          <a:p>
            <a:pPr indent="0" marL="0">
              <a:buNone/>
            </a:pPr>
            <a:r>
              <a:rPr lang="en-US" sz="1700" dirty="0">
                <a:solidFill>
                  <a:schemeClr val="tx1"/>
                </a:solidFill>
              </a:rPr>
              <a:t>Ai đăng nhập từ IP nào, đang chạy gì; CPU/RAM cộng dồn theo từng nhân viên</a:t>
            </a:r>
            <a:endParaRPr lang="en-US" sz="1700" dirty="0"/>
          </a:p>
        </p:txBody>
      </p:sp>
      <p:sp>
        <p:nvSpPr>
          <p:cNvPr id="6" name="pt-h-1"/>
          <p:cNvSpPr txBox="1"/>
          <p:nvPr/>
        </p:nvSpPr>
        <p:spPr>
          <a:xfrm>
            <a:off x="4236720" y="4766646"/>
            <a:ext cx="3413760" cy="365760"/>
          </a:xfrm>
          <a:prstGeom prst="rect">
            <a:avLst/>
          </a:prstGeom>
          <a:noFill/>
          <a:ln/>
        </p:spPr>
        <p:txBody>
          <a:bodyPr wrap="square" lIns="0" tIns="0" rIns="0" bIns="0" rtlCol="0" anchor="t"/>
          <a:lstStyle/>
          <a:p>
            <a:pPr indent="0" marL="0">
              <a:buNone/>
            </a:pPr>
            <a:r>
              <a:rPr lang="en-US" sz="1700" b="1" dirty="0">
                <a:solidFill>
                  <a:schemeClr val="accent1"/>
                </a:solidFill>
              </a:rPr>
              <a:t>hogs</a:t>
            </a:r>
            <a:endParaRPr lang="en-US" sz="1700" dirty="0"/>
          </a:p>
        </p:txBody>
      </p:sp>
      <p:sp>
        <p:nvSpPr>
          <p:cNvPr id="7" name="pt-b-1"/>
          <p:cNvSpPr txBox="1"/>
          <p:nvPr/>
        </p:nvSpPr>
        <p:spPr>
          <a:xfrm>
            <a:off x="4236720" y="5178126"/>
            <a:ext cx="3413760" cy="994074"/>
          </a:xfrm>
          <a:prstGeom prst="rect">
            <a:avLst/>
          </a:prstGeom>
          <a:noFill/>
          <a:ln/>
        </p:spPr>
        <p:txBody>
          <a:bodyPr wrap="square" lIns="0" tIns="0" rIns="0" bIns="0" rtlCol="0" anchor="t"/>
          <a:lstStyle/>
          <a:p>
            <a:pPr indent="0" marL="0">
              <a:buNone/>
            </a:pPr>
            <a:r>
              <a:rPr lang="en-US" sz="1700" dirty="0">
                <a:solidFill>
                  <a:schemeClr val="tx1"/>
                </a:solidFill>
              </a:rPr>
              <a:t>Process vượt 90% CPU hoặc 30% RAM, kèm dòng lệnh đầy đủ (train_model.py)</a:t>
            </a:r>
            <a:endParaRPr lang="en-US" sz="1700" dirty="0"/>
          </a:p>
        </p:txBody>
      </p:sp>
      <p:sp>
        <p:nvSpPr>
          <p:cNvPr id="8" name="pt-h-2"/>
          <p:cNvSpPr txBox="1"/>
          <p:nvPr/>
        </p:nvSpPr>
        <p:spPr>
          <a:xfrm>
            <a:off x="7924800" y="4766646"/>
            <a:ext cx="3413760" cy="365760"/>
          </a:xfrm>
          <a:prstGeom prst="rect">
            <a:avLst/>
          </a:prstGeom>
          <a:noFill/>
          <a:ln/>
        </p:spPr>
        <p:txBody>
          <a:bodyPr wrap="square" lIns="0" tIns="0" rIns="0" bIns="0" rtlCol="0" anchor="t"/>
          <a:lstStyle/>
          <a:p>
            <a:pPr indent="0" marL="0">
              <a:buNone/>
            </a:pPr>
            <a:r>
              <a:rPr lang="en-US" sz="1700" b="1" dirty="0">
                <a:solidFill>
                  <a:schemeClr val="accent1"/>
                </a:solidFill>
              </a:rPr>
              <a:t>Xử lý</a:t>
            </a:r>
            <a:endParaRPr lang="en-US" sz="1700" dirty="0"/>
          </a:p>
        </p:txBody>
      </p:sp>
      <p:sp>
        <p:nvSpPr>
          <p:cNvPr id="9" name="pt-b-2"/>
          <p:cNvSpPr txBox="1"/>
          <p:nvPr/>
        </p:nvSpPr>
        <p:spPr>
          <a:xfrm>
            <a:off x="7924800" y="5178126"/>
            <a:ext cx="3413760" cy="994074"/>
          </a:xfrm>
          <a:prstGeom prst="rect">
            <a:avLst/>
          </a:prstGeom>
          <a:noFill/>
          <a:ln/>
        </p:spPr>
        <p:txBody>
          <a:bodyPr wrap="square" lIns="0" tIns="0" rIns="0" bIns="0" rtlCol="0" anchor="t"/>
          <a:lstStyle/>
          <a:p>
            <a:pPr indent="0" marL="0">
              <a:buNone/>
            </a:pPr>
            <a:r>
              <a:rPr lang="en-US" sz="1700" dirty="0">
                <a:solidFill>
                  <a:schemeClr val="tx1"/>
                </a:solidFill>
              </a:rPr>
              <a:t>renice hạ ưu tiên (mềm) hoặc kill (có xác nhận, chặn PID 1); troubleshoot 10 bước</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FA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3 · alert — cảnh báo tức thời, ngày cũng như đêm</a:t>
            </a:r>
            <a:endParaRPr lang="en-US" sz="3200" dirty="0"/>
          </a:p>
        </p:txBody>
      </p:sp>
      <p:pic>
        <p:nvPicPr>
          <p:cNvPr id="3" name="shot-alert-check.png" descr="shot-alert-check.png">    </p:cNvPr>
          <p:cNvPicPr>
            <a:picLocks noChangeAspect="1"/>
          </p:cNvPicPr>
          <p:nvPr/>
        </p:nvPicPr>
        <p:blipFill>
          <a:blip r:embed="rId1"/>
          <a:stretch>
            <a:fillRect/>
          </a:stretch>
        </p:blipFill>
        <p:spPr>
          <a:xfrm>
            <a:off x="548640" y="1280160"/>
            <a:ext cx="11064240" cy="2635748"/>
          </a:xfrm>
          <a:prstGeom prst="rect">
            <a:avLst/>
          </a:prstGeom>
        </p:spPr>
      </p:pic>
      <p:sp>
        <p:nvSpPr>
          <p:cNvPr id="4" name="pt-h-0"/>
          <p:cNvSpPr txBox="1"/>
          <p:nvPr/>
        </p:nvSpPr>
        <p:spPr>
          <a:xfrm>
            <a:off x="548640" y="4235948"/>
            <a:ext cx="3413760" cy="365760"/>
          </a:xfrm>
          <a:prstGeom prst="rect">
            <a:avLst/>
          </a:prstGeom>
          <a:noFill/>
          <a:ln/>
        </p:spPr>
        <p:txBody>
          <a:bodyPr wrap="square" lIns="0" tIns="0" rIns="0" bIns="0" rtlCol="0" anchor="t"/>
          <a:lstStyle/>
          <a:p>
            <a:pPr indent="0" marL="0">
              <a:buNone/>
            </a:pPr>
            <a:r>
              <a:rPr lang="en-US" sz="1700" b="1" dirty="0">
                <a:solidFill>
                  <a:schemeClr val="accent1"/>
                </a:solidFill>
              </a:rPr>
              <a:t>Mỗi 5 phút</a:t>
            </a:r>
            <a:endParaRPr lang="en-US" sz="1700" dirty="0"/>
          </a:p>
        </p:txBody>
      </p:sp>
      <p:sp>
        <p:nvSpPr>
          <p:cNvPr id="5" name="pt-b-0"/>
          <p:cNvSpPr txBox="1"/>
          <p:nvPr/>
        </p:nvSpPr>
        <p:spPr>
          <a:xfrm>
            <a:off x="548640" y="4647428"/>
            <a:ext cx="3413760" cy="1524772"/>
          </a:xfrm>
          <a:prstGeom prst="rect">
            <a:avLst/>
          </a:prstGeom>
          <a:noFill/>
          <a:ln/>
        </p:spPr>
        <p:txBody>
          <a:bodyPr wrap="square" lIns="0" tIns="0" rIns="0" bIns="0" rtlCol="0" anchor="t"/>
          <a:lstStyle/>
          <a:p>
            <a:pPr indent="0" marL="0">
              <a:buNone/>
            </a:pPr>
            <a:r>
              <a:rPr lang="en-US" sz="1700" dirty="0">
                <a:solidFill>
                  <a:schemeClr val="tx1"/>
                </a:solidFill>
              </a:rPr>
              <a:t>CPU/RAM/đĩa, process ngốn tài nguyên, dịch vụ systemd chết, ≥ 10 lần SSH thất bại/10 phút</a:t>
            </a:r>
            <a:endParaRPr lang="en-US" sz="1700" dirty="0"/>
          </a:p>
        </p:txBody>
      </p:sp>
      <p:sp>
        <p:nvSpPr>
          <p:cNvPr id="6" name="pt-h-1"/>
          <p:cNvSpPr txBox="1"/>
          <p:nvPr/>
        </p:nvSpPr>
        <p:spPr>
          <a:xfrm>
            <a:off x="4236720" y="4235948"/>
            <a:ext cx="3413760" cy="365760"/>
          </a:xfrm>
          <a:prstGeom prst="rect">
            <a:avLst/>
          </a:prstGeom>
          <a:noFill/>
          <a:ln/>
        </p:spPr>
        <p:txBody>
          <a:bodyPr wrap="square" lIns="0" tIns="0" rIns="0" bIns="0" rtlCol="0" anchor="t"/>
          <a:lstStyle/>
          <a:p>
            <a:pPr indent="0" marL="0">
              <a:buNone/>
            </a:pPr>
            <a:r>
              <a:rPr lang="en-US" sz="1700" b="1" dirty="0">
                <a:solidFill>
                  <a:schemeClr val="accent1"/>
                </a:solidFill>
              </a:rPr>
              <a:t>Gửi đi</a:t>
            </a:r>
            <a:endParaRPr lang="en-US" sz="1700" dirty="0"/>
          </a:p>
        </p:txBody>
      </p:sp>
      <p:sp>
        <p:nvSpPr>
          <p:cNvPr id="7" name="pt-b-1"/>
          <p:cNvSpPr txBox="1"/>
          <p:nvPr/>
        </p:nvSpPr>
        <p:spPr>
          <a:xfrm>
            <a:off x="4236720" y="4647428"/>
            <a:ext cx="3413760" cy="1524772"/>
          </a:xfrm>
          <a:prstGeom prst="rect">
            <a:avLst/>
          </a:prstGeom>
          <a:noFill/>
          <a:ln/>
        </p:spPr>
        <p:txBody>
          <a:bodyPr wrap="square" lIns="0" tIns="0" rIns="0" bIns="0" rtlCol="0" anchor="t"/>
          <a:lstStyle/>
          <a:p>
            <a:pPr indent="0" marL="0">
              <a:buNone/>
            </a:pPr>
            <a:r>
              <a:rPr lang="en-US" sz="1700" dirty="0">
                <a:solidFill>
                  <a:schemeClr val="tx1"/>
                </a:solidFill>
              </a:rPr>
              <a:t>Email (msmtp) + Telegram bot; tiêu đề tiếng Việt mã hoá RFC 2047</a:t>
            </a:r>
            <a:endParaRPr lang="en-US" sz="1700" dirty="0"/>
          </a:p>
        </p:txBody>
      </p:sp>
      <p:sp>
        <p:nvSpPr>
          <p:cNvPr id="8" name="pt-h-2"/>
          <p:cNvSpPr txBox="1"/>
          <p:nvPr/>
        </p:nvSpPr>
        <p:spPr>
          <a:xfrm>
            <a:off x="7924800" y="4235948"/>
            <a:ext cx="3413760" cy="365760"/>
          </a:xfrm>
          <a:prstGeom prst="rect">
            <a:avLst/>
          </a:prstGeom>
          <a:noFill/>
          <a:ln/>
        </p:spPr>
        <p:txBody>
          <a:bodyPr wrap="square" lIns="0" tIns="0" rIns="0" bIns="0" rtlCol="0" anchor="t"/>
          <a:lstStyle/>
          <a:p>
            <a:pPr indent="0" marL="0">
              <a:buNone/>
            </a:pPr>
            <a:r>
              <a:rPr lang="en-US" sz="1700" b="1" dirty="0">
                <a:solidFill>
                  <a:schemeClr val="accent1"/>
                </a:solidFill>
              </a:rPr>
              <a:t>Không spam</a:t>
            </a:r>
            <a:endParaRPr lang="en-US" sz="1700" dirty="0"/>
          </a:p>
        </p:txBody>
      </p:sp>
      <p:sp>
        <p:nvSpPr>
          <p:cNvPr id="9" name="pt-b-2"/>
          <p:cNvSpPr txBox="1"/>
          <p:nvPr/>
        </p:nvSpPr>
        <p:spPr>
          <a:xfrm>
            <a:off x="7924800" y="4647428"/>
            <a:ext cx="3413760" cy="1524772"/>
          </a:xfrm>
          <a:prstGeom prst="rect">
            <a:avLst/>
          </a:prstGeom>
          <a:noFill/>
          <a:ln/>
        </p:spPr>
        <p:txBody>
          <a:bodyPr wrap="square" lIns="0" tIns="0" rIns="0" bIns="0" rtlCol="0" anchor="t"/>
          <a:lstStyle/>
          <a:p>
            <a:pPr indent="0" marL="0">
              <a:buNone/>
            </a:pPr>
            <a:r>
              <a:rPr lang="en-US" sz="1700" dirty="0">
                <a:solidFill>
                  <a:schemeClr val="tx1"/>
                </a:solidFill>
              </a:rPr>
              <a:t>Cooldown 30 phút; hết sự cố tự gửi tin "ĐÃ ỔN ĐỊNH"; lịch sử trong metrics.csv</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FA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4 · backup — sao lưu an toàn tài sản số</a:t>
            </a:r>
            <a:endParaRPr lang="en-US" sz="3200" dirty="0"/>
          </a:p>
        </p:txBody>
      </p:sp>
      <p:pic>
        <p:nvPicPr>
          <p:cNvPr id="3" name="shot-backup.png" descr="shot-backup.png">    </p:cNvPr>
          <p:cNvPicPr>
            <a:picLocks noChangeAspect="1"/>
          </p:cNvPicPr>
          <p:nvPr/>
        </p:nvPicPr>
        <p:blipFill>
          <a:blip r:embed="rId1"/>
          <a:stretch>
            <a:fillRect/>
          </a:stretch>
        </p:blipFill>
        <p:spPr>
          <a:xfrm>
            <a:off x="548640" y="1280160"/>
            <a:ext cx="11064240" cy="2948543"/>
          </a:xfrm>
          <a:prstGeom prst="rect">
            <a:avLst/>
          </a:prstGeom>
        </p:spPr>
      </p:pic>
      <p:sp>
        <p:nvSpPr>
          <p:cNvPr id="4" name="pt-h-0"/>
          <p:cNvSpPr txBox="1"/>
          <p:nvPr/>
        </p:nvSpPr>
        <p:spPr>
          <a:xfrm>
            <a:off x="548640" y="4548743"/>
            <a:ext cx="3413760" cy="365760"/>
          </a:xfrm>
          <a:prstGeom prst="rect">
            <a:avLst/>
          </a:prstGeom>
          <a:noFill/>
          <a:ln/>
        </p:spPr>
        <p:txBody>
          <a:bodyPr wrap="square" lIns="0" tIns="0" rIns="0" bIns="0" rtlCol="0" anchor="t"/>
          <a:lstStyle/>
          <a:p>
            <a:pPr indent="0" marL="0">
              <a:buNone/>
            </a:pPr>
            <a:r>
              <a:rPr lang="en-US" sz="1700" b="1" dirty="0">
                <a:solidFill>
                  <a:schemeClr val="accent1"/>
                </a:solidFill>
              </a:rPr>
              <a:t>Nguồn</a:t>
            </a:r>
            <a:endParaRPr lang="en-US" sz="1700" dirty="0"/>
          </a:p>
        </p:txBody>
      </p:sp>
      <p:sp>
        <p:nvSpPr>
          <p:cNvPr id="5" name="pt-b-0"/>
          <p:cNvSpPr txBox="1"/>
          <p:nvPr/>
        </p:nvSpPr>
        <p:spPr>
          <a:xfrm>
            <a:off x="548640" y="4960223"/>
            <a:ext cx="3413760" cy="1211977"/>
          </a:xfrm>
          <a:prstGeom prst="rect">
            <a:avLst/>
          </a:prstGeom>
          <a:noFill/>
          <a:ln/>
        </p:spPr>
        <p:txBody>
          <a:bodyPr wrap="square" lIns="0" tIns="0" rIns="0" bIns="0" rtlCol="0" anchor="t"/>
          <a:lstStyle/>
          <a:p>
            <a:pPr indent="0" marL="0">
              <a:buNone/>
            </a:pPr>
            <a:r>
              <a:rPr lang="en-US" sz="1700" dirty="0">
                <a:solidFill>
                  <a:schemeClr val="tx1"/>
                </a:solidFill>
              </a:rPr>
              <a:t>/srv/technova (dự án) · /home (nhân viên) · /etc (cấu hình)</a:t>
            </a:r>
            <a:endParaRPr lang="en-US" sz="1700" dirty="0"/>
          </a:p>
        </p:txBody>
      </p:sp>
      <p:sp>
        <p:nvSpPr>
          <p:cNvPr id="6" name="pt-h-1"/>
          <p:cNvSpPr txBox="1"/>
          <p:nvPr/>
        </p:nvSpPr>
        <p:spPr>
          <a:xfrm>
            <a:off x="4236720" y="4548743"/>
            <a:ext cx="3413760" cy="365760"/>
          </a:xfrm>
          <a:prstGeom prst="rect">
            <a:avLst/>
          </a:prstGeom>
          <a:noFill/>
          <a:ln/>
        </p:spPr>
        <p:txBody>
          <a:bodyPr wrap="square" lIns="0" tIns="0" rIns="0" bIns="0" rtlCol="0" anchor="t"/>
          <a:lstStyle/>
          <a:p>
            <a:pPr indent="0" marL="0">
              <a:buNone/>
            </a:pPr>
            <a:r>
              <a:rPr lang="en-US" sz="1700" b="1" dirty="0">
                <a:solidFill>
                  <a:schemeClr val="accent1"/>
                </a:solidFill>
              </a:rPr>
              <a:t>Quy trình</a:t>
            </a:r>
            <a:endParaRPr lang="en-US" sz="1700" dirty="0"/>
          </a:p>
        </p:txBody>
      </p:sp>
      <p:sp>
        <p:nvSpPr>
          <p:cNvPr id="7" name="pt-b-1"/>
          <p:cNvSpPr txBox="1"/>
          <p:nvPr/>
        </p:nvSpPr>
        <p:spPr>
          <a:xfrm>
            <a:off x="4236720" y="4960223"/>
            <a:ext cx="3413760" cy="1211977"/>
          </a:xfrm>
          <a:prstGeom prst="rect">
            <a:avLst/>
          </a:prstGeom>
          <a:noFill/>
          <a:ln/>
        </p:spPr>
        <p:txBody>
          <a:bodyPr wrap="square" lIns="0" tIns="0" rIns="0" bIns="0" rtlCol="0" anchor="t"/>
          <a:lstStyle/>
          <a:p>
            <a:pPr indent="0" marL="0">
              <a:buNone/>
            </a:pPr>
            <a:r>
              <a:rPr lang="en-US" sz="1700" dirty="0">
                <a:solidFill>
                  <a:schemeClr val="tx1"/>
                </a:solidFill>
              </a:rPr>
              <a:t>flock → tar.gz → gzip -t → SHA-256 → giữ 7 bản → rsync offsite</a:t>
            </a:r>
            <a:endParaRPr lang="en-US" sz="1700" dirty="0"/>
          </a:p>
        </p:txBody>
      </p:sp>
      <p:sp>
        <p:nvSpPr>
          <p:cNvPr id="8" name="pt-h-2"/>
          <p:cNvSpPr txBox="1"/>
          <p:nvPr/>
        </p:nvSpPr>
        <p:spPr>
          <a:xfrm>
            <a:off x="7924800" y="4548743"/>
            <a:ext cx="3413760" cy="365760"/>
          </a:xfrm>
          <a:prstGeom prst="rect">
            <a:avLst/>
          </a:prstGeom>
          <a:noFill/>
          <a:ln/>
        </p:spPr>
        <p:txBody>
          <a:bodyPr wrap="square" lIns="0" tIns="0" rIns="0" bIns="0" rtlCol="0" anchor="t"/>
          <a:lstStyle/>
          <a:p>
            <a:pPr indent="0" marL="0">
              <a:buNone/>
            </a:pPr>
            <a:r>
              <a:rPr lang="en-US" sz="1700" b="1" dirty="0">
                <a:solidFill>
                  <a:schemeClr val="accent1"/>
                </a:solidFill>
              </a:rPr>
              <a:t>Khôi phục</a:t>
            </a:r>
            <a:endParaRPr lang="en-US" sz="1700" dirty="0"/>
          </a:p>
        </p:txBody>
      </p:sp>
      <p:sp>
        <p:nvSpPr>
          <p:cNvPr id="9" name="pt-b-2"/>
          <p:cNvSpPr txBox="1"/>
          <p:nvPr/>
        </p:nvSpPr>
        <p:spPr>
          <a:xfrm>
            <a:off x="7924800" y="4960223"/>
            <a:ext cx="3413760" cy="1211977"/>
          </a:xfrm>
          <a:prstGeom prst="rect">
            <a:avLst/>
          </a:prstGeom>
          <a:noFill/>
          <a:ln/>
        </p:spPr>
        <p:txBody>
          <a:bodyPr wrap="square" lIns="0" tIns="0" rIns="0" bIns="0" rtlCol="0" anchor="t"/>
          <a:lstStyle/>
          <a:p>
            <a:pPr indent="0" marL="0">
              <a:buNone/>
            </a:pPr>
            <a:r>
              <a:rPr lang="en-US" sz="1700" dirty="0">
                <a:solidFill>
                  <a:schemeClr val="tx1"/>
                </a:solidFill>
              </a:rPr>
              <a:t>backup verify kiểm tra toàn vẹn; backup restore ra thư mục riêng; lỗi → cảnh báo</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FA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5 · scheduler — máy chủ tự bảo dưỡng</a:t>
            </a:r>
            <a:endParaRPr lang="en-US" sz="3200" dirty="0"/>
          </a:p>
        </p:txBody>
      </p:sp>
      <p:pic>
        <p:nvPicPr>
          <p:cNvPr id="3" name="shot-scheduler.png" descr="shot-scheduler.png">    </p:cNvPr>
          <p:cNvPicPr>
            <a:picLocks noChangeAspect="1"/>
          </p:cNvPicPr>
          <p:nvPr/>
        </p:nvPicPr>
        <p:blipFill>
          <a:blip r:embed="rId1"/>
          <a:stretch>
            <a:fillRect/>
          </a:stretch>
        </p:blipFill>
        <p:spPr>
          <a:xfrm>
            <a:off x="548640" y="1280160"/>
            <a:ext cx="8595360" cy="3204228"/>
          </a:xfrm>
          <a:prstGeom prst="rect">
            <a:avLst/>
          </a:prstGeom>
        </p:spPr>
      </p:pic>
      <p:sp>
        <p:nvSpPr>
          <p:cNvPr id="4" name="pt-h-0"/>
          <p:cNvSpPr txBox="1"/>
          <p:nvPr/>
        </p:nvSpPr>
        <p:spPr>
          <a:xfrm>
            <a:off x="548640" y="4804428"/>
            <a:ext cx="3413760" cy="365760"/>
          </a:xfrm>
          <a:prstGeom prst="rect">
            <a:avLst/>
          </a:prstGeom>
          <a:noFill/>
          <a:ln/>
        </p:spPr>
        <p:txBody>
          <a:bodyPr wrap="square" lIns="0" tIns="0" rIns="0" bIns="0" rtlCol="0" anchor="t"/>
          <a:lstStyle/>
          <a:p>
            <a:pPr indent="0" marL="0">
              <a:buNone/>
            </a:pPr>
            <a:r>
              <a:rPr lang="en-US" sz="1700" b="1" dirty="0">
                <a:solidFill>
                  <a:schemeClr val="accent1"/>
                </a:solidFill>
              </a:rPr>
              <a:t>Khối cron riêng</a:t>
            </a:r>
            <a:endParaRPr lang="en-US" sz="1700" dirty="0"/>
          </a:p>
        </p:txBody>
      </p:sp>
      <p:sp>
        <p:nvSpPr>
          <p:cNvPr id="5" name="pt-b-0"/>
          <p:cNvSpPr txBox="1"/>
          <p:nvPr/>
        </p:nvSpPr>
        <p:spPr>
          <a:xfrm>
            <a:off x="548640" y="5215908"/>
            <a:ext cx="3413760" cy="956292"/>
          </a:xfrm>
          <a:prstGeom prst="rect">
            <a:avLst/>
          </a:prstGeom>
          <a:noFill/>
          <a:ln/>
        </p:spPr>
        <p:txBody>
          <a:bodyPr wrap="square" lIns="0" tIns="0" rIns="0" bIns="0" rtlCol="0" anchor="t"/>
          <a:lstStyle/>
          <a:p>
            <a:pPr indent="0" marL="0">
              <a:buNone/>
            </a:pPr>
            <a:r>
              <a:rPr lang="en-US" sz="1700" dirty="0">
                <a:solidFill>
                  <a:schemeClr val="tx1"/>
                </a:solidFill>
              </a:rPr>
              <a:t>02:00 backup · 03:30 bảo dưỡng · */5 alert check · 07:00 thứ Hai báo cáo</a:t>
            </a:r>
            <a:endParaRPr lang="en-US" sz="1700" dirty="0"/>
          </a:p>
        </p:txBody>
      </p:sp>
      <p:sp>
        <p:nvSpPr>
          <p:cNvPr id="6" name="pt-h-1"/>
          <p:cNvSpPr txBox="1"/>
          <p:nvPr/>
        </p:nvSpPr>
        <p:spPr>
          <a:xfrm>
            <a:off x="4236720" y="4804428"/>
            <a:ext cx="3413760" cy="365760"/>
          </a:xfrm>
          <a:prstGeom prst="rect">
            <a:avLst/>
          </a:prstGeom>
          <a:noFill/>
          <a:ln/>
        </p:spPr>
        <p:txBody>
          <a:bodyPr wrap="square" lIns="0" tIns="0" rIns="0" bIns="0" rtlCol="0" anchor="t"/>
          <a:lstStyle/>
          <a:p>
            <a:pPr indent="0" marL="0">
              <a:buNone/>
            </a:pPr>
            <a:r>
              <a:rPr lang="en-US" sz="1700" b="1" dirty="0">
                <a:solidFill>
                  <a:schemeClr val="accent1"/>
                </a:solidFill>
              </a:rPr>
              <a:t>maintenance</a:t>
            </a:r>
            <a:endParaRPr lang="en-US" sz="1700" dirty="0"/>
          </a:p>
        </p:txBody>
      </p:sp>
      <p:sp>
        <p:nvSpPr>
          <p:cNvPr id="7" name="pt-b-1"/>
          <p:cNvSpPr txBox="1"/>
          <p:nvPr/>
        </p:nvSpPr>
        <p:spPr>
          <a:xfrm>
            <a:off x="4236720" y="5215908"/>
            <a:ext cx="3413760" cy="956292"/>
          </a:xfrm>
          <a:prstGeom prst="rect">
            <a:avLst/>
          </a:prstGeom>
          <a:noFill/>
          <a:ln/>
        </p:spPr>
        <p:txBody>
          <a:bodyPr wrap="square" lIns="0" tIns="0" rIns="0" bIns="0" rtlCol="0" anchor="t"/>
          <a:lstStyle/>
          <a:p>
            <a:pPr indent="0" marL="0">
              <a:buNone/>
            </a:pPr>
            <a:r>
              <a:rPr lang="en-US" sz="1700" dirty="0">
                <a:solidFill>
                  <a:schemeClr val="tx1"/>
                </a:solidFill>
              </a:rPr>
              <a:t>Dọn /tmp cũ hơn 7 ngày, log journald &gt; 30 ngày, cache gói, core dump; báo cần reboot</a:t>
            </a:r>
            <a:endParaRPr lang="en-US" sz="1700" dirty="0"/>
          </a:p>
        </p:txBody>
      </p:sp>
      <p:sp>
        <p:nvSpPr>
          <p:cNvPr id="8" name="pt-h-2"/>
          <p:cNvSpPr txBox="1"/>
          <p:nvPr/>
        </p:nvSpPr>
        <p:spPr>
          <a:xfrm>
            <a:off x="7924800" y="4804428"/>
            <a:ext cx="3413760" cy="365760"/>
          </a:xfrm>
          <a:prstGeom prst="rect">
            <a:avLst/>
          </a:prstGeom>
          <a:noFill/>
          <a:ln/>
        </p:spPr>
        <p:txBody>
          <a:bodyPr wrap="square" lIns="0" tIns="0" rIns="0" bIns="0" rtlCol="0" anchor="t"/>
          <a:lstStyle/>
          <a:p>
            <a:pPr indent="0" marL="0">
              <a:buNone/>
            </a:pPr>
            <a:r>
              <a:rPr lang="en-US" sz="1700" b="1" dirty="0">
                <a:solidFill>
                  <a:schemeClr val="accent1"/>
                </a:solidFill>
              </a:rPr>
              <a:t>Tiện ích</a:t>
            </a:r>
            <a:endParaRPr lang="en-US" sz="1700" dirty="0"/>
          </a:p>
        </p:txBody>
      </p:sp>
      <p:sp>
        <p:nvSpPr>
          <p:cNvPr id="9" name="pt-b-2"/>
          <p:cNvSpPr txBox="1"/>
          <p:nvPr/>
        </p:nvSpPr>
        <p:spPr>
          <a:xfrm>
            <a:off x="7924800" y="5215908"/>
            <a:ext cx="3413760" cy="956292"/>
          </a:xfrm>
          <a:prstGeom prst="rect">
            <a:avLst/>
          </a:prstGeom>
          <a:noFill/>
          <a:ln/>
        </p:spPr>
        <p:txBody>
          <a:bodyPr wrap="square" lIns="0" tIns="0" rIns="0" bIns="0" rtlCol="0" anchor="t"/>
          <a:lstStyle/>
          <a:p>
            <a:pPr indent="0" marL="0">
              <a:buNone/>
            </a:pPr>
            <a:r>
              <a:rPr lang="en-US" sz="1700" dirty="0">
                <a:solidFill>
                  <a:schemeClr val="tx1"/>
                </a:solidFill>
              </a:rPr>
              <a:t>explain giải thích cron bằng tiếng Việt · at hẹn 1 lần · systemd timer thay cron</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FA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Kỹ thuật Bash nổi bật trong đồ án</a:t>
            </a:r>
            <a:endParaRPr lang="en-US" sz="3200" dirty="0"/>
          </a:p>
        </p:txBody>
      </p:sp>
      <p:sp>
        <p:nvSpPr>
          <p:cNvPr id="3" name="tech-card-0"/>
          <p:cNvSpPr/>
          <p:nvPr/>
        </p:nvSpPr>
        <p:spPr>
          <a:xfrm>
            <a:off x="548640" y="1417320"/>
            <a:ext cx="3520440" cy="2057400"/>
          </a:xfrm>
          <a:prstGeom prst="roundRect">
            <a:avLst>
              <a:gd name="adj" fmla="val 5333"/>
            </a:avLst>
          </a:prstGeom>
          <a:solidFill>
            <a:schemeClr val="bg2"/>
          </a:solidFill>
          <a:ln w="12700">
            <a:solidFill>
              <a:schemeClr val="bg2"/>
            </a:solidFill>
            <a:prstDash val="solid"/>
          </a:ln>
        </p:spPr>
      </p:sp>
      <p:sp>
        <p:nvSpPr>
          <p:cNvPr id="4" name="tech-h-0"/>
          <p:cNvSpPr txBox="1"/>
          <p:nvPr/>
        </p:nvSpPr>
        <p:spPr>
          <a:xfrm>
            <a:off x="822960" y="1691640"/>
            <a:ext cx="3017520" cy="45720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set -Eeuo pipefail + trap</a:t>
            </a:r>
            <a:endParaRPr lang="en-US" sz="1800" dirty="0"/>
          </a:p>
        </p:txBody>
      </p:sp>
      <p:sp>
        <p:nvSpPr>
          <p:cNvPr id="5" name="tech-b-0"/>
          <p:cNvSpPr txBox="1"/>
          <p:nvPr/>
        </p:nvSpPr>
        <p:spPr>
          <a:xfrm>
            <a:off x="822960" y="2286000"/>
            <a:ext cx="3017520" cy="1051560"/>
          </a:xfrm>
          <a:prstGeom prst="rect">
            <a:avLst/>
          </a:prstGeom>
          <a:noFill/>
          <a:ln/>
        </p:spPr>
        <p:txBody>
          <a:bodyPr wrap="square" lIns="0" tIns="0" rIns="0" bIns="0" rtlCol="0" anchor="t"/>
          <a:lstStyle/>
          <a:p>
            <a:pPr indent="0" marL="0">
              <a:buNone/>
            </a:pPr>
            <a:r>
              <a:rPr lang="en-US" sz="1600" dirty="0">
                <a:solidFill>
                  <a:schemeClr val="tx1"/>
                </a:solidFill>
              </a:rPr>
              <a:t>Dừng khi lỗi, báo đúng dòng lỗi, dọn file tạm, Ctrl+C an toàn</a:t>
            </a:r>
            <a:endParaRPr lang="en-US" sz="1600" dirty="0"/>
          </a:p>
        </p:txBody>
      </p:sp>
      <p:sp>
        <p:nvSpPr>
          <p:cNvPr id="6" name="tech-card-1"/>
          <p:cNvSpPr/>
          <p:nvPr/>
        </p:nvSpPr>
        <p:spPr>
          <a:xfrm>
            <a:off x="4297680" y="1417320"/>
            <a:ext cx="3520440" cy="2057400"/>
          </a:xfrm>
          <a:prstGeom prst="roundRect">
            <a:avLst>
              <a:gd name="adj" fmla="val 5333"/>
            </a:avLst>
          </a:prstGeom>
          <a:solidFill>
            <a:schemeClr val="bg2"/>
          </a:solidFill>
          <a:ln w="12700">
            <a:solidFill>
              <a:schemeClr val="bg2"/>
            </a:solidFill>
            <a:prstDash val="solid"/>
          </a:ln>
        </p:spPr>
      </p:sp>
      <p:sp>
        <p:nvSpPr>
          <p:cNvPr id="7" name="tech-h-1"/>
          <p:cNvSpPr txBox="1"/>
          <p:nvPr/>
        </p:nvSpPr>
        <p:spPr>
          <a:xfrm>
            <a:off x="4572000" y="1691640"/>
            <a:ext cx="3017520" cy="45720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Mảng kết hợp — registry</a:t>
            </a:r>
            <a:endParaRPr lang="en-US" sz="1800" dirty="0"/>
          </a:p>
        </p:txBody>
      </p:sp>
      <p:sp>
        <p:nvSpPr>
          <p:cNvPr id="8" name="tech-b-1"/>
          <p:cNvSpPr txBox="1"/>
          <p:nvPr/>
        </p:nvSpPr>
        <p:spPr>
          <a:xfrm>
            <a:off x="4572000" y="2286000"/>
            <a:ext cx="3017520" cy="1051560"/>
          </a:xfrm>
          <a:prstGeom prst="rect">
            <a:avLst/>
          </a:prstGeom>
          <a:noFill/>
          <a:ln/>
        </p:spPr>
        <p:txBody>
          <a:bodyPr wrap="square" lIns="0" tIns="0" rIns="0" bIns="0" rtlCol="0" anchor="t"/>
          <a:lstStyle/>
          <a:p>
            <a:pPr indent="0" marL="0">
              <a:buNone/>
            </a:pPr>
            <a:r>
              <a:rPr lang="en-US" sz="1600" dirty="0">
                <a:solidFill>
                  <a:schemeClr val="tx1"/>
                </a:solidFill>
              </a:rPr>
              <a:t>Khai báo action một lần → help, menu CLI, menu TUI tự sinh</a:t>
            </a:r>
            <a:endParaRPr lang="en-US" sz="1600" dirty="0"/>
          </a:p>
        </p:txBody>
      </p:sp>
      <p:sp>
        <p:nvSpPr>
          <p:cNvPr id="9" name="tech-card-2"/>
          <p:cNvSpPr/>
          <p:nvPr/>
        </p:nvSpPr>
        <p:spPr>
          <a:xfrm>
            <a:off x="8046720" y="1417320"/>
            <a:ext cx="3520440" cy="2057400"/>
          </a:xfrm>
          <a:prstGeom prst="roundRect">
            <a:avLst>
              <a:gd name="adj" fmla="val 5333"/>
            </a:avLst>
          </a:prstGeom>
          <a:solidFill>
            <a:schemeClr val="bg2"/>
          </a:solidFill>
          <a:ln w="12700">
            <a:solidFill>
              <a:schemeClr val="bg2"/>
            </a:solidFill>
            <a:prstDash val="solid"/>
          </a:ln>
        </p:spPr>
      </p:sp>
      <p:sp>
        <p:nvSpPr>
          <p:cNvPr id="10" name="tech-h-2"/>
          <p:cNvSpPr txBox="1"/>
          <p:nvPr/>
        </p:nvSpPr>
        <p:spPr>
          <a:xfrm>
            <a:off x="8321040" y="1691640"/>
            <a:ext cx="3017520" cy="45720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Hàm run() — dry-run</a:t>
            </a:r>
            <a:endParaRPr lang="en-US" sz="1800" dirty="0"/>
          </a:p>
        </p:txBody>
      </p:sp>
      <p:sp>
        <p:nvSpPr>
          <p:cNvPr id="11" name="tech-b-2"/>
          <p:cNvSpPr txBox="1"/>
          <p:nvPr/>
        </p:nvSpPr>
        <p:spPr>
          <a:xfrm>
            <a:off x="8321040" y="2286000"/>
            <a:ext cx="3017520" cy="1051560"/>
          </a:xfrm>
          <a:prstGeom prst="rect">
            <a:avLst/>
          </a:prstGeom>
          <a:noFill/>
          <a:ln/>
        </p:spPr>
        <p:txBody>
          <a:bodyPr wrap="square" lIns="0" tIns="0" rIns="0" bIns="0" rtlCol="0" anchor="t"/>
          <a:lstStyle/>
          <a:p>
            <a:pPr indent="0" marL="0">
              <a:buNone/>
            </a:pPr>
            <a:r>
              <a:rPr lang="en-US" sz="1600" dirty="0">
                <a:solidFill>
                  <a:schemeClr val="tx1"/>
                </a:solidFill>
              </a:rPr>
              <a:t>Mọi lệnh thay đổi hệ thống chạy thử được, có log truy vết</a:t>
            </a:r>
            <a:endParaRPr lang="en-US" sz="1600" dirty="0"/>
          </a:p>
        </p:txBody>
      </p:sp>
      <p:sp>
        <p:nvSpPr>
          <p:cNvPr id="12" name="tech-card-3"/>
          <p:cNvSpPr/>
          <p:nvPr/>
        </p:nvSpPr>
        <p:spPr>
          <a:xfrm>
            <a:off x="548640" y="3703320"/>
            <a:ext cx="3520440" cy="2057400"/>
          </a:xfrm>
          <a:prstGeom prst="roundRect">
            <a:avLst>
              <a:gd name="adj" fmla="val 5333"/>
            </a:avLst>
          </a:prstGeom>
          <a:solidFill>
            <a:schemeClr val="bg2"/>
          </a:solidFill>
          <a:ln w="12700">
            <a:solidFill>
              <a:schemeClr val="bg2"/>
            </a:solidFill>
            <a:prstDash val="solid"/>
          </a:ln>
        </p:spPr>
      </p:sp>
      <p:sp>
        <p:nvSpPr>
          <p:cNvPr id="13" name="tech-h-3"/>
          <p:cNvSpPr txBox="1"/>
          <p:nvPr/>
        </p:nvSpPr>
        <p:spPr>
          <a:xfrm>
            <a:off x="822960" y="3977640"/>
            <a:ext cx="3017520" cy="45720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awk tổng hợp</a:t>
            </a:r>
            <a:endParaRPr lang="en-US" sz="1800" dirty="0"/>
          </a:p>
        </p:txBody>
      </p:sp>
      <p:sp>
        <p:nvSpPr>
          <p:cNvPr id="14" name="tech-b-3"/>
          <p:cNvSpPr txBox="1"/>
          <p:nvPr/>
        </p:nvSpPr>
        <p:spPr>
          <a:xfrm>
            <a:off x="822960" y="4572000"/>
            <a:ext cx="3017520" cy="1051560"/>
          </a:xfrm>
          <a:prstGeom prst="rect">
            <a:avLst/>
          </a:prstGeom>
          <a:noFill/>
          <a:ln/>
        </p:spPr>
        <p:txBody>
          <a:bodyPr wrap="square" lIns="0" tIns="0" rIns="0" bIns="0" rtlCol="0" anchor="t"/>
          <a:lstStyle/>
          <a:p>
            <a:pPr indent="0" marL="0">
              <a:buNone/>
            </a:pPr>
            <a:r>
              <a:rPr lang="en-US" sz="1600" dirty="0">
                <a:solidFill>
                  <a:schemeClr val="tx1"/>
                </a:solidFill>
              </a:rPr>
              <a:t>Cộng dồn CPU/RAM theo user, lọc process vượt ngưỡng</a:t>
            </a:r>
            <a:endParaRPr lang="en-US" sz="1600" dirty="0"/>
          </a:p>
        </p:txBody>
      </p:sp>
      <p:sp>
        <p:nvSpPr>
          <p:cNvPr id="15" name="tech-card-4"/>
          <p:cNvSpPr/>
          <p:nvPr/>
        </p:nvSpPr>
        <p:spPr>
          <a:xfrm>
            <a:off x="4297680" y="3703320"/>
            <a:ext cx="3520440" cy="2057400"/>
          </a:xfrm>
          <a:prstGeom prst="roundRect">
            <a:avLst>
              <a:gd name="adj" fmla="val 5333"/>
            </a:avLst>
          </a:prstGeom>
          <a:solidFill>
            <a:schemeClr val="bg2"/>
          </a:solidFill>
          <a:ln w="12700">
            <a:solidFill>
              <a:schemeClr val="bg2"/>
            </a:solidFill>
            <a:prstDash val="solid"/>
          </a:ln>
        </p:spPr>
      </p:sp>
      <p:sp>
        <p:nvSpPr>
          <p:cNvPr id="16" name="tech-h-4"/>
          <p:cNvSpPr txBox="1"/>
          <p:nvPr/>
        </p:nvSpPr>
        <p:spPr>
          <a:xfrm>
            <a:off x="4572000" y="3977640"/>
            <a:ext cx="3017520" cy="45720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flock · runuser · logger</a:t>
            </a:r>
            <a:endParaRPr lang="en-US" sz="1800" dirty="0"/>
          </a:p>
        </p:txBody>
      </p:sp>
      <p:sp>
        <p:nvSpPr>
          <p:cNvPr id="17" name="tech-b-4"/>
          <p:cNvSpPr txBox="1"/>
          <p:nvPr/>
        </p:nvSpPr>
        <p:spPr>
          <a:xfrm>
            <a:off x="4572000" y="4572000"/>
            <a:ext cx="3017520" cy="1051560"/>
          </a:xfrm>
          <a:prstGeom prst="rect">
            <a:avLst/>
          </a:prstGeom>
          <a:noFill/>
          <a:ln/>
        </p:spPr>
        <p:txBody>
          <a:bodyPr wrap="square" lIns="0" tIns="0" rIns="0" bIns="0" rtlCol="0" anchor="t"/>
          <a:lstStyle/>
          <a:p>
            <a:pPr indent="0" marL="0">
              <a:buNone/>
            </a:pPr>
            <a:r>
              <a:rPr lang="en-US" sz="1600" dirty="0">
                <a:solidFill>
                  <a:schemeClr val="tx1"/>
                </a:solidFill>
              </a:rPr>
              <a:t>Chống chạy trùng, thử quyền dưới danh nghĩa user, ghi journald</a:t>
            </a:r>
            <a:endParaRPr lang="en-US" sz="1600" dirty="0"/>
          </a:p>
        </p:txBody>
      </p:sp>
      <p:sp>
        <p:nvSpPr>
          <p:cNvPr id="18" name="tech-card-5"/>
          <p:cNvSpPr/>
          <p:nvPr/>
        </p:nvSpPr>
        <p:spPr>
          <a:xfrm>
            <a:off x="8046720" y="3703320"/>
            <a:ext cx="3520440" cy="2057400"/>
          </a:xfrm>
          <a:prstGeom prst="roundRect">
            <a:avLst>
              <a:gd name="adj" fmla="val 5333"/>
            </a:avLst>
          </a:prstGeom>
          <a:solidFill>
            <a:schemeClr val="bg2"/>
          </a:solidFill>
          <a:ln w="12700">
            <a:solidFill>
              <a:schemeClr val="bg2"/>
            </a:solidFill>
            <a:prstDash val="solid"/>
          </a:ln>
        </p:spPr>
      </p:sp>
      <p:sp>
        <p:nvSpPr>
          <p:cNvPr id="19" name="tech-h-5"/>
          <p:cNvSpPr txBox="1"/>
          <p:nvPr/>
        </p:nvSpPr>
        <p:spPr>
          <a:xfrm>
            <a:off x="8321040" y="3977640"/>
            <a:ext cx="3017520" cy="45720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getopts + tuỳ chọn dài</a:t>
            </a:r>
            <a:endParaRPr lang="en-US" sz="1800" dirty="0"/>
          </a:p>
        </p:txBody>
      </p:sp>
      <p:sp>
        <p:nvSpPr>
          <p:cNvPr id="20" name="tech-b-5"/>
          <p:cNvSpPr txBox="1"/>
          <p:nvPr/>
        </p:nvSpPr>
        <p:spPr>
          <a:xfrm>
            <a:off x="8321040" y="4572000"/>
            <a:ext cx="3017520" cy="1051560"/>
          </a:xfrm>
          <a:prstGeom prst="rect">
            <a:avLst/>
          </a:prstGeom>
          <a:noFill/>
          <a:ln/>
        </p:spPr>
        <p:txBody>
          <a:bodyPr wrap="square" lIns="0" tIns="0" rIns="0" bIns="0" rtlCol="0" anchor="t"/>
          <a:lstStyle/>
          <a:p>
            <a:pPr indent="0" marL="0">
              <a:buNone/>
            </a:pPr>
            <a:r>
              <a:rPr lang="en-US" sz="1600" dirty="0">
                <a:solidFill>
                  <a:schemeClr val="tx1"/>
                </a:solidFill>
              </a:rPr>
              <a:t>--tui, --cli, --dry-run, --yes, --ascii, --config</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FA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Kiểm thử tự động: 55/55 bước đạt</a:t>
            </a:r>
            <a:endParaRPr lang="en-US" sz="3200" dirty="0"/>
          </a:p>
        </p:txBody>
      </p:sp>
      <p:sp>
        <p:nvSpPr>
          <p:cNvPr id="3" name="test-stat"/>
          <p:cNvSpPr txBox="1"/>
          <p:nvPr/>
        </p:nvSpPr>
        <p:spPr>
          <a:xfrm>
            <a:off x="548640" y="1554480"/>
            <a:ext cx="3840480" cy="1280160"/>
          </a:xfrm>
          <a:prstGeom prst="rect">
            <a:avLst/>
          </a:prstGeom>
          <a:noFill/>
          <a:ln/>
        </p:spPr>
        <p:txBody>
          <a:bodyPr wrap="square" lIns="0" tIns="0" rIns="0" bIns="0" rtlCol="0" anchor="t"/>
          <a:lstStyle/>
          <a:p>
            <a:pPr indent="0" marL="0">
              <a:buNone/>
            </a:pPr>
            <a:r>
              <a:rPr lang="en-US" sz="7200" b="1" dirty="0">
                <a:solidFill>
                  <a:schemeClr val="accent1"/>
                </a:solidFill>
              </a:rPr>
              <a:t>55/55</a:t>
            </a:r>
            <a:endParaRPr lang="en-US" sz="7200" dirty="0"/>
          </a:p>
        </p:txBody>
      </p:sp>
      <p:sp>
        <p:nvSpPr>
          <p:cNvPr id="4" name="test-stat-label"/>
          <p:cNvSpPr txBox="1"/>
          <p:nvPr/>
        </p:nvSpPr>
        <p:spPr>
          <a:xfrm>
            <a:off x="548640" y="2880360"/>
            <a:ext cx="3657600" cy="1097280"/>
          </a:xfrm>
          <a:prstGeom prst="rect">
            <a:avLst/>
          </a:prstGeom>
          <a:noFill/>
          <a:ln/>
        </p:spPr>
        <p:txBody>
          <a:bodyPr wrap="square" lIns="0" tIns="0" rIns="0" bIns="0" rtlCol="0" anchor="t"/>
          <a:lstStyle/>
          <a:p>
            <a:pPr indent="0" marL="0">
              <a:buNone/>
            </a:pPr>
            <a:r>
              <a:rPr lang="en-US" sz="1600" dirty="0">
                <a:solidFill>
                  <a:schemeClr val="tx1"/>
                </a:solidFill>
              </a:rPr>
              <a:t>test PASS — tests/demo-test.sh chạy trọn "một ngày của anh Hưng" trên Ubuntu 24.04</a:t>
            </a:r>
            <a:endParaRPr lang="en-US" sz="1600" dirty="0"/>
          </a:p>
        </p:txBody>
      </p:sp>
      <p:sp>
        <p:nvSpPr>
          <p:cNvPr id="5" name="test-shellcheck"/>
          <p:cNvSpPr txBox="1"/>
          <p:nvPr/>
        </p:nvSpPr>
        <p:spPr>
          <a:xfrm>
            <a:off x="548640" y="4160520"/>
            <a:ext cx="3657600" cy="457200"/>
          </a:xfrm>
          <a:prstGeom prst="rect">
            <a:avLst/>
          </a:prstGeom>
          <a:noFill/>
          <a:ln/>
        </p:spPr>
        <p:txBody>
          <a:bodyPr wrap="square" lIns="0" tIns="0" rIns="0" bIns="0" rtlCol="0" anchor="t"/>
          <a:lstStyle/>
          <a:p>
            <a:pPr indent="0" marL="0">
              <a:buNone/>
            </a:pPr>
            <a:r>
              <a:rPr lang="en-US" sz="1800" b="1" dirty="0">
                <a:solidFill>
                  <a:schemeClr val="tx2"/>
                </a:solidFill>
              </a:rPr>
              <a:t>shellcheck: 0 cảnh báo</a:t>
            </a:r>
            <a:endParaRPr lang="en-US" sz="1800" dirty="0"/>
          </a:p>
        </p:txBody>
      </p:sp>
      <p:sp>
        <p:nvSpPr>
          <p:cNvPr id="6" name="test-env"/>
          <p:cNvSpPr txBox="1"/>
          <p:nvPr/>
        </p:nvSpPr>
        <p:spPr>
          <a:xfrm>
            <a:off x="548640" y="4617720"/>
            <a:ext cx="3657600" cy="731520"/>
          </a:xfrm>
          <a:prstGeom prst="rect">
            <a:avLst/>
          </a:prstGeom>
          <a:noFill/>
          <a:ln/>
        </p:spPr>
        <p:txBody>
          <a:bodyPr wrap="square" lIns="0" tIns="0" rIns="0" bIns="0" rtlCol="0" anchor="t"/>
          <a:lstStyle/>
          <a:p>
            <a:pPr indent="0" marL="0">
              <a:buNone/>
            </a:pPr>
            <a:r>
              <a:rPr lang="en-US" sz="1500" dirty="0">
                <a:solidFill>
                  <a:schemeClr val="tx1"/>
                </a:solidFill>
              </a:rPr>
              <a:t>Kali, Ubuntu 24.04, Rocky 9 (CLI), Docker</a:t>
            </a:r>
            <a:endParaRPr lang="en-US" sz="1500" dirty="0"/>
          </a:p>
        </p:txBody>
      </p:sp>
      <p:graphicFrame>
        <p:nvGraphicFramePr>
          <p:cNvPr id="7" name="Chart 0" descr=""/>
          <p:cNvGraphicFramePr/>
          <p:nvPr/>
        </p:nvGraphicFramePr>
        <p:xfrm>
          <a:off x="4572000" y="1325880"/>
          <a:ext cx="7040880"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FA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Làm tay và dùng toolkit</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657600"/>
                <a:gridCol w="3703320"/>
                <a:gridCol w="3703320"/>
              </a:tblGrid>
              <a:tr h="713232">
                <a:tc>
                  <a:txBody>
                    <a:bodyPr/>
                    <a:lstStyle/>
                    <a:p>
                      <a:pPr indent="0" marL="0">
                        <a:buNone/>
                      </a:pPr>
                      <a:r>
                        <a:rPr lang="en-US" sz="1600" b="1" dirty="0">
                          <a:solidFill>
                            <a:schemeClr val="bg1"/>
                          </a:solidFill>
                        </a:rPr>
                        <a:t>Công việc</a:t>
                      </a:r>
                      <a:endParaRPr lang="en-US" sz="1600" dirty="0"/>
                    </a:p>
                  </a:txBody>
                  <a:tcPr marL="91440" marR="91440" marT="91440" marB="9144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Làm tay</a:t>
                      </a:r>
                      <a:endParaRPr lang="en-US" sz="1600" dirty="0"/>
                    </a:p>
                  </a:txBody>
                  <a:tcPr marL="91440" marR="91440" marT="91440" marB="9144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Với toolkit</a:t>
                      </a:r>
                      <a:endParaRPr lang="en-US" sz="1600" dirty="0"/>
                    </a:p>
                  </a:txBody>
                  <a:tcPr marL="91440" marR="91440" marT="91440" marB="9144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chemeClr val="tx2"/>
                    </a:solidFill>
                  </a:tcPr>
                </a:tc>
              </a:tr>
              <a:tr h="713232">
                <a:tc>
                  <a:txBody>
                    <a:bodyPr/>
                    <a:lstStyle/>
                    <a:p>
                      <a:pPr indent="0" marL="0">
                        <a:buNone/>
                      </a:pPr>
                      <a:r>
                        <a:rPr lang="en-US" sz="1600" b="1" dirty="0">
                          <a:solidFill>
                            <a:schemeClr val="tx2"/>
                          </a:solidFill>
                        </a:rPr>
                        <a:t>Tạo 7 nhân viên + phòng ban + thư mục</a:t>
                      </a:r>
                      <a:endParaRPr lang="en-US" sz="1600" dirty="0"/>
                    </a:p>
                  </a:txBody>
                  <a:tcPr marL="91440" marR="91440" marT="91440" marB="9144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chemeClr val="bg1"/>
                    </a:solidFill>
                  </a:tcPr>
                </a:tc>
                <a:tc>
                  <a:txBody>
                    <a:bodyPr/>
                    <a:lstStyle/>
                    <a:p>
                      <a:pPr indent="0" marL="0">
                        <a:buNone/>
                      </a:pPr>
                      <a:r>
                        <a:rPr lang="en-US" sz="1600" dirty="0">
                          <a:solidFill>
                            <a:srgbClr val="4A5868"/>
                          </a:solidFill>
                        </a:rPr>
                        <a:t>≈ 50 lệnh, 20–30 phút, dễ sai quyền</a:t>
                      </a:r>
                      <a:endParaRPr lang="en-US" sz="1600" dirty="0"/>
                    </a:p>
                  </a:txBody>
                  <a:tcPr marL="91440" marR="91440" marT="91440" marB="9144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chemeClr val="bg1"/>
                    </a:solidFill>
                  </a:tcPr>
                </a:tc>
                <a:tc>
                  <a:txBody>
                    <a:bodyPr/>
                    <a:lstStyle/>
                    <a:p>
                      <a:pPr indent="0" marL="0">
                        <a:buNone/>
                      </a:pPr>
                      <a:r>
                        <a:rPr lang="en-US" sz="1600" b="1" dirty="0">
                          <a:solidFill>
                            <a:schemeClr val="accent1"/>
                          </a:solidFill>
                        </a:rPr>
                        <a:t>2 lệnh, &lt; 10 giây, tự kiểm chứng</a:t>
                      </a:r>
                      <a:endParaRPr lang="en-US" sz="1600" dirty="0"/>
                    </a:p>
                  </a:txBody>
                  <a:tcPr marL="91440" marR="91440" marT="91440" marB="9144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chemeClr val="bg1"/>
                    </a:solidFill>
                  </a:tcPr>
                </a:tc>
              </a:tr>
              <a:tr h="713232">
                <a:tc>
                  <a:txBody>
                    <a:bodyPr/>
                    <a:lstStyle/>
                    <a:p>
                      <a:pPr indent="0" marL="0">
                        <a:buNone/>
                      </a:pPr>
                      <a:r>
                        <a:rPr lang="en-US" sz="1600" b="1" dirty="0">
                          <a:solidFill>
                            <a:schemeClr val="tx2"/>
                          </a:solidFill>
                        </a:rPr>
                        <a:t>Tìm ai đang treo process</a:t>
                      </a:r>
                      <a:endParaRPr lang="en-US" sz="1600" dirty="0"/>
                    </a:p>
                  </a:txBody>
                  <a:tcPr marL="91440" marR="91440" marT="91440" marB="9144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chemeClr val="bg1"/>
                    </a:solidFill>
                  </a:tcPr>
                </a:tc>
                <a:tc>
                  <a:txBody>
                    <a:bodyPr/>
                    <a:lstStyle/>
                    <a:p>
                      <a:pPr indent="0" marL="0">
                        <a:buNone/>
                      </a:pPr>
                      <a:r>
                        <a:rPr lang="en-US" sz="1600" dirty="0">
                          <a:solidFill>
                            <a:srgbClr val="4A5868"/>
                          </a:solidFill>
                        </a:rPr>
                        <a:t>ps/top rồi tự đối chiếu user</a:t>
                      </a:r>
                      <a:endParaRPr lang="en-US" sz="1600" dirty="0"/>
                    </a:p>
                  </a:txBody>
                  <a:tcPr marL="91440" marR="91440" marT="91440" marB="9144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chemeClr val="bg1"/>
                    </a:solidFill>
                  </a:tcPr>
                </a:tc>
                <a:tc>
                  <a:txBody>
                    <a:bodyPr/>
                    <a:lstStyle/>
                    <a:p>
                      <a:pPr indent="0" marL="0">
                        <a:buNone/>
                      </a:pPr>
                      <a:r>
                        <a:rPr lang="en-US" sz="1600" b="1" dirty="0">
                          <a:solidFill>
                            <a:schemeClr val="accent1"/>
                          </a:solidFill>
                        </a:rPr>
                        <a:t>monitor hogs — một lệnh</a:t>
                      </a:r>
                      <a:endParaRPr lang="en-US" sz="1600" dirty="0"/>
                    </a:p>
                  </a:txBody>
                  <a:tcPr marL="91440" marR="91440" marT="91440" marB="9144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chemeClr val="bg1"/>
                    </a:solidFill>
                  </a:tcPr>
                </a:tc>
              </a:tr>
              <a:tr h="713232">
                <a:tc>
                  <a:txBody>
                    <a:bodyPr/>
                    <a:lstStyle/>
                    <a:p>
                      <a:pPr indent="0" marL="0">
                        <a:buNone/>
                      </a:pPr>
                      <a:r>
                        <a:rPr lang="en-US" sz="1600" b="1" dirty="0">
                          <a:solidFill>
                            <a:schemeClr val="tx2"/>
                          </a:solidFill>
                        </a:rPr>
                        <a:t>Sự cố lúc 2 giờ sáng</a:t>
                      </a:r>
                      <a:endParaRPr lang="en-US" sz="1600" dirty="0"/>
                    </a:p>
                  </a:txBody>
                  <a:tcPr marL="91440" marR="91440" marT="91440" marB="9144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chemeClr val="bg1"/>
                    </a:solidFill>
                  </a:tcPr>
                </a:tc>
                <a:tc>
                  <a:txBody>
                    <a:bodyPr/>
                    <a:lstStyle/>
                    <a:p>
                      <a:pPr indent="0" marL="0">
                        <a:buNone/>
                      </a:pPr>
                      <a:r>
                        <a:rPr lang="en-US" sz="1600" dirty="0">
                          <a:solidFill>
                            <a:srgbClr val="4A5868"/>
                          </a:solidFill>
                        </a:rPr>
                        <a:t>Biết khi nhân viên phản ánh</a:t>
                      </a:r>
                      <a:endParaRPr lang="en-US" sz="1600" dirty="0"/>
                    </a:p>
                  </a:txBody>
                  <a:tcPr marL="91440" marR="91440" marT="91440" marB="9144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chemeClr val="bg1"/>
                    </a:solidFill>
                  </a:tcPr>
                </a:tc>
                <a:tc>
                  <a:txBody>
                    <a:bodyPr/>
                    <a:lstStyle/>
                    <a:p>
                      <a:pPr indent="0" marL="0">
                        <a:buNone/>
                      </a:pPr>
                      <a:r>
                        <a:rPr lang="en-US" sz="1600" b="1" dirty="0">
                          <a:solidFill>
                            <a:schemeClr val="accent1"/>
                          </a:solidFill>
                        </a:rPr>
                        <a:t>Cảnh báo trong ≤ 5 phút</a:t>
                      </a:r>
                      <a:endParaRPr lang="en-US" sz="1600" dirty="0"/>
                    </a:p>
                  </a:txBody>
                  <a:tcPr marL="91440" marR="91440" marT="91440" marB="9144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chemeClr val="bg1"/>
                    </a:solidFill>
                  </a:tcPr>
                </a:tc>
              </a:tr>
              <a:tr h="713232">
                <a:tc>
                  <a:txBody>
                    <a:bodyPr/>
                    <a:lstStyle/>
                    <a:p>
                      <a:pPr indent="0" marL="0">
                        <a:buNone/>
                      </a:pPr>
                      <a:r>
                        <a:rPr lang="en-US" sz="1600" b="1" dirty="0">
                          <a:solidFill>
                            <a:schemeClr val="tx2"/>
                          </a:solidFill>
                        </a:rPr>
                        <a:t>Sao lưu hằng ngày</a:t>
                      </a:r>
                      <a:endParaRPr lang="en-US" sz="1600" dirty="0"/>
                    </a:p>
                  </a:txBody>
                  <a:tcPr marL="91440" marR="91440" marT="91440" marB="9144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chemeClr val="bg1"/>
                    </a:solidFill>
                  </a:tcPr>
                </a:tc>
                <a:tc>
                  <a:txBody>
                    <a:bodyPr/>
                    <a:lstStyle/>
                    <a:p>
                      <a:pPr indent="0" marL="0">
                        <a:buNone/>
                      </a:pPr>
                      <a:r>
                        <a:rPr lang="en-US" sz="1600" dirty="0">
                          <a:solidFill>
                            <a:srgbClr val="4A5868"/>
                          </a:solidFill>
                        </a:rPr>
                        <a:t>Dễ quên, không kiểm tra bản sao</a:t>
                      </a:r>
                      <a:endParaRPr lang="en-US" sz="1600" dirty="0"/>
                    </a:p>
                  </a:txBody>
                  <a:tcPr marL="91440" marR="91440" marT="91440" marB="9144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chemeClr val="bg1"/>
                    </a:solidFill>
                  </a:tcPr>
                </a:tc>
                <a:tc>
                  <a:txBody>
                    <a:bodyPr/>
                    <a:lstStyle/>
                    <a:p>
                      <a:pPr indent="0" marL="0">
                        <a:buNone/>
                      </a:pPr>
                      <a:r>
                        <a:rPr lang="en-US" sz="1600" b="1" dirty="0">
                          <a:solidFill>
                            <a:schemeClr val="accent1"/>
                          </a:solidFill>
                        </a:rPr>
                        <a:t>Tự động, SHA-256, xoay vòng 7 bản</a:t>
                      </a:r>
                      <a:endParaRPr lang="en-US" sz="1600" dirty="0"/>
                    </a:p>
                  </a:txBody>
                  <a:tcPr marL="91440" marR="91440" marT="91440" marB="9144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chemeClr val="bg1"/>
                    </a:solidFill>
                  </a:tcPr>
                </a:tc>
              </a:tr>
              <a:tr h="713232">
                <a:tc>
                  <a:txBody>
                    <a:bodyPr/>
                    <a:lstStyle/>
                    <a:p>
                      <a:pPr indent="0" marL="0">
                        <a:buNone/>
                      </a:pPr>
                      <a:r>
                        <a:rPr lang="en-US" sz="1600" b="1" dirty="0">
                          <a:solidFill>
                            <a:schemeClr val="tx2"/>
                          </a:solidFill>
                        </a:rPr>
                        <a:t>Nhân viên nghỉ việc</a:t>
                      </a:r>
                      <a:endParaRPr lang="en-US" sz="1600" dirty="0"/>
                    </a:p>
                  </a:txBody>
                  <a:tcPr marL="91440" marR="91440" marT="91440" marB="9144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chemeClr val="bg1"/>
                    </a:solidFill>
                  </a:tcPr>
                </a:tc>
                <a:tc>
                  <a:txBody>
                    <a:bodyPr/>
                    <a:lstStyle/>
                    <a:p>
                      <a:pPr indent="0" marL="0">
                        <a:buNone/>
                      </a:pPr>
                      <a:r>
                        <a:rPr lang="en-US" sz="1600" dirty="0">
                          <a:solidFill>
                            <a:srgbClr val="4A5868"/>
                          </a:solidFill>
                        </a:rPr>
                        <a:t>Dễ sót sudo, crontab, phiên còn mở</a:t>
                      </a:r>
                      <a:endParaRPr lang="en-US" sz="1600" dirty="0"/>
                    </a:p>
                  </a:txBody>
                  <a:tcPr marL="91440" marR="91440" marT="91440" marB="9144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chemeClr val="bg1"/>
                    </a:solidFill>
                  </a:tcPr>
                </a:tc>
                <a:tc>
                  <a:txBody>
                    <a:bodyPr/>
                    <a:lstStyle/>
                    <a:p>
                      <a:pPr indent="0" marL="0">
                        <a:buNone/>
                      </a:pPr>
                      <a:r>
                        <a:rPr lang="en-US" sz="1600" b="1" dirty="0">
                          <a:solidFill>
                            <a:schemeClr val="accent1"/>
                          </a:solidFill>
                        </a:rPr>
                        <a:t>users offboard — 5 bước một lần</a:t>
                      </a:r>
                      <a:endParaRPr lang="en-US" sz="1600" dirty="0"/>
                    </a:p>
                  </a:txBody>
                  <a:tcPr marL="91440" marR="91440" marT="91440" marB="9144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chemeClr val="bg1"/>
                    </a:solidFill>
                  </a:tcPr>
                </a:tc>
              </a:tr>
            </a:tbl>
          </a:graphicData>
        </a:graphic>
      </p:graphicFrame>
      <p:sp>
        <p:nvSpPr>
          <p:cNvPr id="4" name="benefit-note"/>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200" i="1" dirty="0">
                <a:solidFill>
                  <a:srgbClr val="7A8FA6"/>
                </a:solidFill>
              </a:rPr>
              <a:t>Số liệu thời gian là ước tính của nhóm khi thao tác trên máy ảo.</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FA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Triển khai trên mọi máy Linux trong vài phút</a:t>
            </a:r>
            <a:endParaRPr lang="en-US" sz="3200" dirty="0"/>
          </a:p>
        </p:txBody>
      </p:sp>
      <p:sp>
        <p:nvSpPr>
          <p:cNvPr id="3" name="dep-card-0"/>
          <p:cNvSpPr/>
          <p:nvPr/>
        </p:nvSpPr>
        <p:spPr>
          <a:xfrm>
            <a:off x="548640" y="1463040"/>
            <a:ext cx="3520440" cy="3291840"/>
          </a:xfrm>
          <a:prstGeom prst="roundRect">
            <a:avLst>
              <a:gd name="adj" fmla="val 3333"/>
            </a:avLst>
          </a:prstGeom>
          <a:solidFill>
            <a:schemeClr val="bg2"/>
          </a:solidFill>
          <a:ln w="12700">
            <a:solidFill>
              <a:schemeClr val="bg2"/>
            </a:solidFill>
            <a:prstDash val="solid"/>
          </a:ln>
        </p:spPr>
      </p:sp>
      <p:sp>
        <p:nvSpPr>
          <p:cNvPr id="4" name="dep-icon-0-circle"/>
          <p:cNvSpPr/>
          <p:nvPr/>
        </p:nvSpPr>
        <p:spPr>
          <a:xfrm>
            <a:off x="868680" y="1737360"/>
            <a:ext cx="777240" cy="777240"/>
          </a:xfrm>
          <a:prstGeom prst="ellipse">
            <a:avLst/>
          </a:prstGeom>
          <a:solidFill>
            <a:schemeClr val="accent1"/>
          </a:solidFill>
          <a:ln w="12700">
            <a:solidFill>
              <a:schemeClr val="accent1"/>
            </a:solidFill>
            <a:prstDash val="solid"/>
          </a:ln>
        </p:spPr>
      </p:sp>
      <p:pic>
        <p:nvPicPr>
          <p:cNvPr id="5" name="dep-icon-0" descr="dep-icon-0">    </p:cNvPr>
          <p:cNvPicPr>
            <a:picLocks noChangeAspect="1"/>
          </p:cNvPicPr>
          <p:nvPr/>
        </p:nvPicPr>
        <p:blipFill>
          <a:blip r:embed="rId1"/>
          <a:stretch>
            <a:fillRect/>
          </a:stretch>
        </p:blipFill>
        <p:spPr>
          <a:xfrm>
            <a:off x="1055218" y="1923898"/>
            <a:ext cx="404165" cy="404165"/>
          </a:xfrm>
          <a:prstGeom prst="rect">
            <a:avLst/>
          </a:prstGeom>
        </p:spPr>
      </p:pic>
      <p:sp>
        <p:nvSpPr>
          <p:cNvPr id="6" name="dep-h-0"/>
          <p:cNvSpPr txBox="1"/>
          <p:nvPr/>
        </p:nvSpPr>
        <p:spPr>
          <a:xfrm>
            <a:off x="1828800" y="1920240"/>
            <a:ext cx="2103120" cy="457200"/>
          </a:xfrm>
          <a:prstGeom prst="rect">
            <a:avLst/>
          </a:prstGeom>
          <a:noFill/>
          <a:ln/>
        </p:spPr>
        <p:txBody>
          <a:bodyPr wrap="square" lIns="0" tIns="0" rIns="0" bIns="0" rtlCol="0" anchor="t"/>
          <a:lstStyle/>
          <a:p>
            <a:pPr indent="0" marL="0">
              <a:buNone/>
            </a:pPr>
            <a:r>
              <a:rPr lang="en-US" sz="2000" b="1" dirty="0">
                <a:solidFill>
                  <a:schemeClr val="tx2"/>
                </a:solidFill>
              </a:rPr>
              <a:t>Docker</a:t>
            </a:r>
            <a:endParaRPr lang="en-US" sz="2000" dirty="0"/>
          </a:p>
        </p:txBody>
      </p:sp>
      <p:sp>
        <p:nvSpPr>
          <p:cNvPr id="7" name="dep-b-0"/>
          <p:cNvSpPr txBox="1"/>
          <p:nvPr/>
        </p:nvSpPr>
        <p:spPr>
          <a:xfrm>
            <a:off x="868680" y="2788920"/>
            <a:ext cx="3017520" cy="17373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docker compose up -d --build</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ssh -p 2222 hung@localhost</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sudo sysadmin --tui</a:t>
            </a:r>
            <a:endParaRPr lang="en-US" sz="1400" dirty="0"/>
          </a:p>
        </p:txBody>
      </p:sp>
      <p:sp>
        <p:nvSpPr>
          <p:cNvPr id="8" name="dep-card-1"/>
          <p:cNvSpPr/>
          <p:nvPr/>
        </p:nvSpPr>
        <p:spPr>
          <a:xfrm>
            <a:off x="4297680" y="1463040"/>
            <a:ext cx="3520440" cy="3291840"/>
          </a:xfrm>
          <a:prstGeom prst="roundRect">
            <a:avLst>
              <a:gd name="adj" fmla="val 3333"/>
            </a:avLst>
          </a:prstGeom>
          <a:solidFill>
            <a:schemeClr val="bg2"/>
          </a:solidFill>
          <a:ln w="12700">
            <a:solidFill>
              <a:schemeClr val="bg2"/>
            </a:solidFill>
            <a:prstDash val="solid"/>
          </a:ln>
        </p:spPr>
      </p:sp>
      <p:sp>
        <p:nvSpPr>
          <p:cNvPr id="9" name="dep-icon-1-circle"/>
          <p:cNvSpPr/>
          <p:nvPr/>
        </p:nvSpPr>
        <p:spPr>
          <a:xfrm>
            <a:off x="4617720" y="1737360"/>
            <a:ext cx="777240" cy="777240"/>
          </a:xfrm>
          <a:prstGeom prst="ellipse">
            <a:avLst/>
          </a:prstGeom>
          <a:solidFill>
            <a:schemeClr val="accent1"/>
          </a:solidFill>
          <a:ln w="12700">
            <a:solidFill>
              <a:schemeClr val="accent1"/>
            </a:solidFill>
            <a:prstDash val="solid"/>
          </a:ln>
        </p:spPr>
      </p:sp>
      <p:pic>
        <p:nvPicPr>
          <p:cNvPr id="10" name="dep-icon-1" descr="dep-icon-1">    </p:cNvPr>
          <p:cNvPicPr>
            <a:picLocks noChangeAspect="1"/>
          </p:cNvPicPr>
          <p:nvPr/>
        </p:nvPicPr>
        <p:blipFill>
          <a:blip r:embed="rId2"/>
          <a:stretch>
            <a:fillRect/>
          </a:stretch>
        </p:blipFill>
        <p:spPr>
          <a:xfrm>
            <a:off x="4804258" y="1923898"/>
            <a:ext cx="404165" cy="404165"/>
          </a:xfrm>
          <a:prstGeom prst="rect">
            <a:avLst/>
          </a:prstGeom>
        </p:spPr>
      </p:pic>
      <p:sp>
        <p:nvSpPr>
          <p:cNvPr id="11" name="dep-h-1"/>
          <p:cNvSpPr txBox="1"/>
          <p:nvPr/>
        </p:nvSpPr>
        <p:spPr>
          <a:xfrm>
            <a:off x="5577840" y="1920240"/>
            <a:ext cx="2103120" cy="457200"/>
          </a:xfrm>
          <a:prstGeom prst="rect">
            <a:avLst/>
          </a:prstGeom>
          <a:noFill/>
          <a:ln/>
        </p:spPr>
        <p:txBody>
          <a:bodyPr wrap="square" lIns="0" tIns="0" rIns="0" bIns="0" rtlCol="0" anchor="t"/>
          <a:lstStyle/>
          <a:p>
            <a:pPr indent="0" marL="0">
              <a:buNone/>
            </a:pPr>
            <a:r>
              <a:rPr lang="en-US" sz="2000" b="1" dirty="0">
                <a:solidFill>
                  <a:schemeClr val="tx2"/>
                </a:solidFill>
              </a:rPr>
              <a:t>Máy chủ thật</a:t>
            </a:r>
            <a:endParaRPr lang="en-US" sz="2000" dirty="0"/>
          </a:p>
        </p:txBody>
      </p:sp>
      <p:sp>
        <p:nvSpPr>
          <p:cNvPr id="12" name="dep-b-1"/>
          <p:cNvSpPr txBox="1"/>
          <p:nvPr/>
        </p:nvSpPr>
        <p:spPr>
          <a:xfrm>
            <a:off x="4617720" y="2788920"/>
            <a:ext cx="3017520" cy="17373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sudo ./install.sh --deps</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sudo sysadmin scheduler install</a:t>
            </a:r>
            <a:endParaRPr lang="en-US" sz="1400" dirty="0"/>
          </a:p>
        </p:txBody>
      </p:sp>
      <p:sp>
        <p:nvSpPr>
          <p:cNvPr id="13" name="dep-card-2"/>
          <p:cNvSpPr/>
          <p:nvPr/>
        </p:nvSpPr>
        <p:spPr>
          <a:xfrm>
            <a:off x="8046720" y="1463040"/>
            <a:ext cx="3520440" cy="3291840"/>
          </a:xfrm>
          <a:prstGeom prst="roundRect">
            <a:avLst>
              <a:gd name="adj" fmla="val 3333"/>
            </a:avLst>
          </a:prstGeom>
          <a:solidFill>
            <a:schemeClr val="bg2"/>
          </a:solidFill>
          <a:ln w="12700">
            <a:solidFill>
              <a:schemeClr val="bg2"/>
            </a:solidFill>
            <a:prstDash val="solid"/>
          </a:ln>
        </p:spPr>
      </p:sp>
      <p:sp>
        <p:nvSpPr>
          <p:cNvPr id="14" name="dep-icon-2-circle"/>
          <p:cNvSpPr/>
          <p:nvPr/>
        </p:nvSpPr>
        <p:spPr>
          <a:xfrm>
            <a:off x="8366760" y="1737360"/>
            <a:ext cx="777240" cy="777240"/>
          </a:xfrm>
          <a:prstGeom prst="ellipse">
            <a:avLst/>
          </a:prstGeom>
          <a:solidFill>
            <a:schemeClr val="accent1"/>
          </a:solidFill>
          <a:ln w="12700">
            <a:solidFill>
              <a:schemeClr val="accent1"/>
            </a:solidFill>
            <a:prstDash val="solid"/>
          </a:ln>
        </p:spPr>
      </p:sp>
      <p:pic>
        <p:nvPicPr>
          <p:cNvPr id="15" name="dep-icon-2" descr="dep-icon-2">    </p:cNvPr>
          <p:cNvPicPr>
            <a:picLocks noChangeAspect="1"/>
          </p:cNvPicPr>
          <p:nvPr/>
        </p:nvPicPr>
        <p:blipFill>
          <a:blip r:embed="rId3"/>
          <a:stretch>
            <a:fillRect/>
          </a:stretch>
        </p:blipFill>
        <p:spPr>
          <a:xfrm>
            <a:off x="8553298" y="1923898"/>
            <a:ext cx="404165" cy="404165"/>
          </a:xfrm>
          <a:prstGeom prst="rect">
            <a:avLst/>
          </a:prstGeom>
        </p:spPr>
      </p:pic>
      <p:sp>
        <p:nvSpPr>
          <p:cNvPr id="16" name="dep-h-2"/>
          <p:cNvSpPr txBox="1"/>
          <p:nvPr/>
        </p:nvSpPr>
        <p:spPr>
          <a:xfrm>
            <a:off x="9326880" y="1920240"/>
            <a:ext cx="2103120" cy="457200"/>
          </a:xfrm>
          <a:prstGeom prst="rect">
            <a:avLst/>
          </a:prstGeom>
          <a:noFill/>
          <a:ln/>
        </p:spPr>
        <p:txBody>
          <a:bodyPr wrap="square" lIns="0" tIns="0" rIns="0" bIns="0" rtlCol="0" anchor="t"/>
          <a:lstStyle/>
          <a:p>
            <a:pPr indent="0" marL="0">
              <a:buNone/>
            </a:pPr>
            <a:r>
              <a:rPr lang="en-US" sz="2000" b="1" dirty="0">
                <a:solidFill>
                  <a:schemeClr val="tx2"/>
                </a:solidFill>
              </a:rPr>
              <a:t>Gói phát hành</a:t>
            </a:r>
            <a:endParaRPr lang="en-US" sz="2000" dirty="0"/>
          </a:p>
        </p:txBody>
      </p:sp>
      <p:sp>
        <p:nvSpPr>
          <p:cNvPr id="17" name="dep-b-2"/>
          <p:cNvSpPr txBox="1"/>
          <p:nvPr/>
        </p:nvSpPr>
        <p:spPr>
          <a:xfrm>
            <a:off x="8366760" y="2788920"/>
            <a:ext cx="3017520" cy="17373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./package.sh → .tar.gz + .sha256</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GitHub: technova-sysadmin-toolkit</a:t>
            </a:r>
            <a:endParaRPr lang="en-US" sz="1400" dirty="0"/>
          </a:p>
        </p:txBody>
      </p:sp>
      <p:sp>
        <p:nvSpPr>
          <p:cNvPr id="18" name="dep-note"/>
          <p:cNvSpPr txBox="1"/>
          <p:nvPr/>
        </p:nvSpPr>
        <p:spPr>
          <a:xfrm>
            <a:off x="548640" y="5074920"/>
            <a:ext cx="11064240" cy="640080"/>
          </a:xfrm>
          <a:prstGeom prst="rect">
            <a:avLst/>
          </a:prstGeom>
          <a:noFill/>
          <a:ln/>
        </p:spPr>
        <p:txBody>
          <a:bodyPr wrap="square" lIns="0" tIns="0" rIns="0" bIns="0" rtlCol="0" anchor="t"/>
          <a:lstStyle/>
          <a:p>
            <a:pPr indent="0" marL="0">
              <a:buNone/>
            </a:pPr>
            <a:r>
              <a:rPr lang="en-US" sz="1600" dirty="0">
                <a:solidFill>
                  <a:schemeClr val="tx1"/>
                </a:solidFill>
              </a:rPr>
              <a:t>Image Docker dựng sẵn "technova-core-srv": Ubuntu 24.04 + toolkit + cron/at + SSH — dữ liệu giữ trong volume.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FA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463040"/>
          </a:xfrm>
          <a:prstGeom prst="rect">
            <a:avLst/>
          </a:prstGeom>
          <a:noFill/>
          <a:ln/>
        </p:spPr>
        <p:txBody>
          <a:bodyPr wrap="square" rtlCol="0" anchor="b"/>
          <a:lstStyle/>
          <a:p>
            <a:pPr algn="l" indent="0" marL="0">
              <a:buNone/>
            </a:pPr>
            <a:r>
              <a:rPr lang="en-US" sz="4400" b="1" dirty="0">
                <a:solidFill>
                  <a:schemeClr val="bg1"/>
                </a:solidFill>
              </a:rPr>
              <a:t>Kết luận &amp; hướng phát triển</a:t>
            </a:r>
            <a:endParaRPr lang="en-US" sz="4400" dirty="0"/>
          </a:p>
        </p:txBody>
      </p:sp>
      <p:sp>
        <p:nvSpPr>
          <p:cNvPr id="3" name="Text 0"/>
          <p:cNvSpPr/>
          <p:nvPr>
            <p:ph idx="101" type="body" hasCustomPrompt="1"/>
          </p:nvPr>
        </p:nvSpPr>
        <p:spPr>
          <a:xfrm>
            <a:off x="731520" y="3429000"/>
            <a:ext cx="10698480" cy="1280160"/>
          </a:xfrm>
          <a:prstGeom prst="rect">
            <a:avLst/>
          </a:prstGeom>
          <a:noFill/>
          <a:ln/>
        </p:spPr>
        <p:txBody>
          <a:bodyPr wrap="square" rtlCol="0" anchor="t"/>
          <a:lstStyle/>
          <a:p>
            <a:pPr algn="l" indent="0" marL="0">
              <a:buNone/>
            </a:pPr>
            <a:r>
              <a:rPr lang="en-US" sz="2000" dirty="0">
                <a:solidFill>
                  <a:schemeClr val="bg2"/>
                </a:solidFill>
              </a:rPr>
              <a:t>Bash đủ sức tự động hoá trọn công việc quản trị một máy chủ doanh nghiệp — từ tiếp nhận đến nghỉ việc, từ giám sát đến sao lưu.</a:t>
            </a:r>
            <a:endParaRPr lang="en-US" sz="2000" dirty="0"/>
          </a:p>
          <a:p>
            <a:pPr algn="l" indent="0" marL="0">
              <a:buNone/>
            </a:pPr>
            <a:r>
              <a:rPr lang="en-US" sz="1600" dirty="0">
                <a:solidFill>
                  <a:schemeClr val="accent4"/>
                </a:solidFill>
              </a:rPr>
              <a:t>Tiếp theo: quản lý nhiều máy chủ (Ansible) · dashboard web · auditd · mã hoá backup lên cloud</a:t>
            </a:r>
            <a:endParaRPr lang="en-US" sz="2000" dirty="0"/>
          </a:p>
        </p:txBody>
      </p:sp>
      <p:sp>
        <p:nvSpPr>
          <p:cNvPr id="4" name="end-icon-circle"/>
          <p:cNvSpPr/>
          <p:nvPr/>
        </p:nvSpPr>
        <p:spPr>
          <a:xfrm>
            <a:off x="731520" y="822960"/>
            <a:ext cx="868680" cy="868680"/>
          </a:xfrm>
          <a:prstGeom prst="ellipse">
            <a:avLst/>
          </a:prstGeom>
          <a:solidFill>
            <a:schemeClr val="accent1"/>
          </a:solidFill>
          <a:ln w="12700">
            <a:solidFill>
              <a:schemeClr val="accent1"/>
            </a:solidFill>
            <a:prstDash val="solid"/>
          </a:ln>
        </p:spPr>
      </p:sp>
      <p:pic>
        <p:nvPicPr>
          <p:cNvPr id="5" name="end-icon" descr="end-icon">    </p:cNvPr>
          <p:cNvPicPr>
            <a:picLocks noChangeAspect="1"/>
          </p:cNvPicPr>
          <p:nvPr/>
        </p:nvPicPr>
        <p:blipFill>
          <a:blip r:embed="rId1"/>
          <a:stretch>
            <a:fillRect/>
          </a:stretch>
        </p:blipFill>
        <p:spPr>
          <a:xfrm>
            <a:off x="940003" y="1031443"/>
            <a:ext cx="451714" cy="451714"/>
          </a:xfrm>
          <a:prstGeom prst="rect">
            <a:avLst/>
          </a:prstGeom>
        </p:spPr>
      </p:pic>
    </p:spTree>
  </p:cSld>
  <p:clrMapOvr>
    <a:masterClrMapping/>
  </p:clrMapOvr>
</p:sld>
</file>

<file path=ppt/theme/theme1.xml><?xml version="1.0" encoding="utf-8"?>
<a:theme xmlns:a="http://schemas.openxmlformats.org/drawingml/2006/main" name="TechNova Terminal">
  <a:themeElements>
    <a:clrScheme name="TechNova Terminal">
      <a:dk1>
        <a:srgbClr val="1B2430"/>
      </a:dk1>
      <a:lt1>
        <a:srgbClr val="FFFFFF"/>
      </a:lt1>
      <a:dk2>
        <a:srgbClr val="14324F"/>
      </a:dk2>
      <a:lt2>
        <a:srgbClr val="EEF4F6"/>
      </a:lt2>
      <a:accent1>
        <a:srgbClr val="0F7C80"/>
      </a:accent1>
      <a:accent2>
        <a:srgbClr val="E8A33D"/>
      </a:accent2>
      <a:accent3>
        <a:srgbClr val="14324F"/>
      </a:accent3>
      <a:accent4>
        <a:srgbClr val="5FB3A1"/>
      </a:accent4>
      <a:accent5>
        <a:srgbClr val="C8553D"/>
      </a:accent5>
      <a:accent6>
        <a:srgbClr val="7A8FA6"/>
      </a:accent6>
      <a:hlink>
        <a:srgbClr val="0F7C80"/>
      </a:hlink>
      <a:folHlink>
        <a:srgbClr val="5FB3A1"/>
      </a:folHlink>
    </a:clrScheme>
    <a:fontScheme name="TechNova Termin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LinuxAdmin Toolkit — TechNova Solutions</dc:title>
  <dc:subject>Bash Scripting cho System Administration</dc:subject>
  <dc:creator>Nhóm OSG203</dc:creator>
  <cp:lastModifiedBy>Nhóm OSG203</cp:lastModifiedBy>
  <cp:revision>1</cp:revision>
  <dcterms:created xsi:type="dcterms:W3CDTF">2026-10-29T10:26:26Z</dcterms:created>
  <dcterms:modified xsi:type="dcterms:W3CDTF">2026-10-29T10:26:26Z</dcterms:modified>
</cp:coreProperties>
</file>